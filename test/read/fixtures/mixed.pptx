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284" r:id="rId2"/>
    <p:sldId id="285" r:id="rId3"/>
    <p:sldId id="286" r:id="rId4"/>
    <p:sldId id="333" r:id="rId5"/>
    <p:sldId id="287" r:id="rId6"/>
    <p:sldId id="288" r:id="rId7"/>
    <p:sldId id="289" r:id="rId8"/>
    <p:sldId id="290" r:id="rId9"/>
    <p:sldId id="291" r:id="rId10"/>
    <p:sldId id="332" r:id="rId11"/>
    <p:sldId id="334" r:id="rId12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80" autoAdjust="0"/>
    <p:restoredTop sz="94660" autoAdjust="0"/>
  </p:normalViewPr>
  <p:slideViewPr>
    <p:cSldViewPr>
      <p:cViewPr varScale="1">
        <p:scale>
          <a:sx n="155" d="100"/>
          <a:sy n="155" d="100"/>
        </p:scale>
        <p:origin x="11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81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Breakeven</a:t>
            </a:r>
            <a:r>
              <a:rPr lang="en-US" baseline="0"/>
              <a:t> Point</a:t>
            </a:r>
            <a:endParaRPr lang="en-US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Feuil1!$B$24</c:f>
              <c:strCache>
                <c:ptCount val="1"/>
                <c:pt idx="0">
                  <c:v>Costs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Feuil1!$A$26:$A$41</c:f>
              <c:numCache>
                <c:formatCode>General</c:formatCode>
                <c:ptCount val="16"/>
                <c:pt idx="0">
                  <c:v>3200</c:v>
                </c:pt>
                <c:pt idx="1">
                  <c:v>3300</c:v>
                </c:pt>
                <c:pt idx="2">
                  <c:v>3400</c:v>
                </c:pt>
                <c:pt idx="3">
                  <c:v>3500</c:v>
                </c:pt>
                <c:pt idx="4">
                  <c:v>3600</c:v>
                </c:pt>
                <c:pt idx="5">
                  <c:v>3700</c:v>
                </c:pt>
                <c:pt idx="6">
                  <c:v>3800</c:v>
                </c:pt>
                <c:pt idx="7">
                  <c:v>3900</c:v>
                </c:pt>
                <c:pt idx="8">
                  <c:v>4000</c:v>
                </c:pt>
                <c:pt idx="9">
                  <c:v>4100</c:v>
                </c:pt>
                <c:pt idx="10">
                  <c:v>4200</c:v>
                </c:pt>
                <c:pt idx="11">
                  <c:v>4300</c:v>
                </c:pt>
                <c:pt idx="12">
                  <c:v>4400</c:v>
                </c:pt>
                <c:pt idx="13">
                  <c:v>4500</c:v>
                </c:pt>
                <c:pt idx="14">
                  <c:v>4600</c:v>
                </c:pt>
                <c:pt idx="15">
                  <c:v>4700</c:v>
                </c:pt>
              </c:numCache>
            </c:numRef>
          </c:cat>
          <c:val>
            <c:numRef>
              <c:f>Feuil1!$B$26:$B$41</c:f>
              <c:numCache>
                <c:formatCode>"€"#,##0_);[Red]\("€"#,##0\)</c:formatCode>
                <c:ptCount val="16"/>
                <c:pt idx="0">
                  <c:v>360000</c:v>
                </c:pt>
                <c:pt idx="1">
                  <c:v>365000</c:v>
                </c:pt>
                <c:pt idx="2">
                  <c:v>370000</c:v>
                </c:pt>
                <c:pt idx="3">
                  <c:v>375000</c:v>
                </c:pt>
                <c:pt idx="4">
                  <c:v>380000</c:v>
                </c:pt>
                <c:pt idx="5">
                  <c:v>385000</c:v>
                </c:pt>
                <c:pt idx="6">
                  <c:v>390000</c:v>
                </c:pt>
                <c:pt idx="7">
                  <c:v>395000</c:v>
                </c:pt>
                <c:pt idx="8">
                  <c:v>400000</c:v>
                </c:pt>
                <c:pt idx="9">
                  <c:v>405000</c:v>
                </c:pt>
                <c:pt idx="10">
                  <c:v>410000</c:v>
                </c:pt>
                <c:pt idx="11">
                  <c:v>415000</c:v>
                </c:pt>
                <c:pt idx="12">
                  <c:v>420000</c:v>
                </c:pt>
                <c:pt idx="13">
                  <c:v>425000</c:v>
                </c:pt>
                <c:pt idx="14">
                  <c:v>430000</c:v>
                </c:pt>
                <c:pt idx="15">
                  <c:v>435000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A3-6C4C-B5E7-2419CF92A86B}"/>
            </c:ext>
          </c:extLst>
        </c:ser>
        <c:ser>
          <c:idx val="1"/>
          <c:order val="1"/>
          <c:tx>
            <c:strRef>
              <c:f>Feuil1!$C$24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numRef>
              <c:f>Feuil1!$A$26:$A$41</c:f>
              <c:numCache>
                <c:formatCode>General</c:formatCode>
                <c:ptCount val="16"/>
                <c:pt idx="0">
                  <c:v>3200</c:v>
                </c:pt>
                <c:pt idx="1">
                  <c:v>3300</c:v>
                </c:pt>
                <c:pt idx="2">
                  <c:v>3400</c:v>
                </c:pt>
                <c:pt idx="3">
                  <c:v>3500</c:v>
                </c:pt>
                <c:pt idx="4">
                  <c:v>3600</c:v>
                </c:pt>
                <c:pt idx="5">
                  <c:v>3700</c:v>
                </c:pt>
                <c:pt idx="6">
                  <c:v>3800</c:v>
                </c:pt>
                <c:pt idx="7">
                  <c:v>3900</c:v>
                </c:pt>
                <c:pt idx="8">
                  <c:v>4000</c:v>
                </c:pt>
                <c:pt idx="9">
                  <c:v>4100</c:v>
                </c:pt>
                <c:pt idx="10">
                  <c:v>4200</c:v>
                </c:pt>
                <c:pt idx="11">
                  <c:v>4300</c:v>
                </c:pt>
                <c:pt idx="12">
                  <c:v>4400</c:v>
                </c:pt>
                <c:pt idx="13">
                  <c:v>4500</c:v>
                </c:pt>
                <c:pt idx="14">
                  <c:v>4600</c:v>
                </c:pt>
                <c:pt idx="15">
                  <c:v>4700</c:v>
                </c:pt>
              </c:numCache>
            </c:numRef>
          </c:cat>
          <c:val>
            <c:numRef>
              <c:f>Feuil1!$C$26:$C$41</c:f>
              <c:numCache>
                <c:formatCode>"€"#,##0_);[Red]\("€"#,##0\)</c:formatCode>
                <c:ptCount val="16"/>
                <c:pt idx="0">
                  <c:v>320000</c:v>
                </c:pt>
                <c:pt idx="1">
                  <c:v>330000</c:v>
                </c:pt>
                <c:pt idx="2">
                  <c:v>340000</c:v>
                </c:pt>
                <c:pt idx="3">
                  <c:v>350000</c:v>
                </c:pt>
                <c:pt idx="4">
                  <c:v>360000</c:v>
                </c:pt>
                <c:pt idx="5">
                  <c:v>370000</c:v>
                </c:pt>
                <c:pt idx="6">
                  <c:v>380000</c:v>
                </c:pt>
                <c:pt idx="7">
                  <c:v>390000</c:v>
                </c:pt>
                <c:pt idx="8">
                  <c:v>400000</c:v>
                </c:pt>
                <c:pt idx="9">
                  <c:v>410000</c:v>
                </c:pt>
                <c:pt idx="10">
                  <c:v>420000</c:v>
                </c:pt>
                <c:pt idx="11">
                  <c:v>430000</c:v>
                </c:pt>
                <c:pt idx="12">
                  <c:v>440000</c:v>
                </c:pt>
                <c:pt idx="13">
                  <c:v>450000</c:v>
                </c:pt>
                <c:pt idx="14">
                  <c:v>460000</c:v>
                </c:pt>
                <c:pt idx="15">
                  <c:v>470000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A3-6C4C-B5E7-2419CF92A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998136"/>
        <c:axId val="205998528"/>
      </c:lineChart>
      <c:catAx>
        <c:axId val="2059981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Volume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low"/>
        <c:txPr>
          <a:bodyPr rot="-5400000" vert="horz"/>
          <a:lstStyle/>
          <a:p>
            <a:pPr>
              <a:defRPr sz="1200"/>
            </a:pPr>
            <a:endParaRPr lang="en-US"/>
          </a:p>
        </c:txPr>
        <c:crossAx val="205998528"/>
        <c:crosses val="autoZero"/>
        <c:auto val="0"/>
        <c:lblAlgn val="ctr"/>
        <c:lblOffset val="100"/>
        <c:noMultiLvlLbl val="0"/>
      </c:catAx>
      <c:valAx>
        <c:axId val="205998528"/>
        <c:scaling>
          <c:orientation val="minMax"/>
          <c:max val="480000"/>
          <c:min val="310000"/>
        </c:scaling>
        <c:delete val="0"/>
        <c:axPos val="l"/>
        <c:majorGridlines/>
        <c:numFmt formatCode="&quot;€&quot;#,##0_);[Red]\(&quot;€&quot;#,##0\)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59981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6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9846E-DCBE-4ADF-B9E7-6BC676F425E3}" type="doc">
      <dgm:prSet loTypeId="urn:microsoft.com/office/officeart/2005/8/layout/hList1" loCatId="list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188B903-8753-4B98-B094-48E343DBB94C}">
      <dgm:prSet/>
      <dgm:spPr/>
      <dgm:t>
        <a:bodyPr/>
        <a:lstStyle/>
        <a:p>
          <a:pPr rtl="0"/>
          <a:r>
            <a:rPr lang="fr-FR" dirty="0" err="1"/>
            <a:t>Understand</a:t>
          </a:r>
          <a:r>
            <a:rPr lang="fr-FR" dirty="0"/>
            <a:t> Data </a:t>
          </a:r>
          <a:r>
            <a:rPr lang="fr-FR" dirty="0" err="1"/>
            <a:t>Modelling</a:t>
          </a:r>
          <a:r>
            <a:rPr lang="fr-FR" dirty="0"/>
            <a:t> </a:t>
          </a:r>
          <a:r>
            <a:rPr lang="fr-FR" dirty="0" err="1"/>
            <a:t>Principles</a:t>
          </a:r>
          <a:endParaRPr lang="en-US" dirty="0"/>
        </a:p>
      </dgm:t>
    </dgm:pt>
    <dgm:pt modelId="{A57F8731-543C-4429-A8C6-9E430E0E9717}" type="parTrans" cxnId="{CF1A7C91-B449-42F4-9DB5-76C3702E7AFF}">
      <dgm:prSet/>
      <dgm:spPr/>
      <dgm:t>
        <a:bodyPr/>
        <a:lstStyle/>
        <a:p>
          <a:endParaRPr lang="en-US"/>
        </a:p>
      </dgm:t>
    </dgm:pt>
    <dgm:pt modelId="{D7FE6C38-7893-4F1F-A007-EB482915B9CB}" type="sibTrans" cxnId="{CF1A7C91-B449-42F4-9DB5-76C3702E7AFF}">
      <dgm:prSet/>
      <dgm:spPr/>
      <dgm:t>
        <a:bodyPr/>
        <a:lstStyle/>
        <a:p>
          <a:endParaRPr lang="en-US"/>
        </a:p>
      </dgm:t>
    </dgm:pt>
    <dgm:pt modelId="{3892C8D2-B59E-4C60-B982-CAA6DB8A484D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Uncontrollable</a:t>
          </a:r>
          <a:r>
            <a:rPr lang="fr-FR" sz="1800" dirty="0"/>
            <a:t> Inputs (</a:t>
          </a:r>
          <a:r>
            <a:rPr lang="fr-FR" sz="1800" dirty="0" err="1"/>
            <a:t>environmental</a:t>
          </a:r>
          <a:r>
            <a:rPr lang="fr-FR" sz="1800" dirty="0"/>
            <a:t> </a:t>
          </a:r>
          <a:r>
            <a:rPr lang="fr-FR" sz="1800" dirty="0" err="1"/>
            <a:t>factors</a:t>
          </a:r>
          <a:r>
            <a:rPr lang="fr-FR" sz="1800" dirty="0"/>
            <a:t>)</a:t>
          </a:r>
          <a:endParaRPr lang="en-US" sz="1800" dirty="0"/>
        </a:p>
      </dgm:t>
    </dgm:pt>
    <dgm:pt modelId="{BC010683-21A4-4F76-BB69-5D1AE68DD429}" type="parTrans" cxnId="{F5E45C9A-E35F-407C-9759-6482C1322921}">
      <dgm:prSet/>
      <dgm:spPr/>
      <dgm:t>
        <a:bodyPr/>
        <a:lstStyle/>
        <a:p>
          <a:endParaRPr lang="en-US"/>
        </a:p>
      </dgm:t>
    </dgm:pt>
    <dgm:pt modelId="{9E260891-9D61-47CB-A23D-50ACA0E5EC88}" type="sibTrans" cxnId="{F5E45C9A-E35F-407C-9759-6482C1322921}">
      <dgm:prSet/>
      <dgm:spPr/>
      <dgm:t>
        <a:bodyPr/>
        <a:lstStyle/>
        <a:p>
          <a:endParaRPr lang="en-US"/>
        </a:p>
      </dgm:t>
    </dgm:pt>
    <dgm:pt modelId="{C170961D-BD92-4E21-93BB-52788F00BCD3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Mathematical</a:t>
          </a:r>
          <a:r>
            <a:rPr lang="fr-FR" sz="1800" dirty="0"/>
            <a:t> model</a:t>
          </a:r>
          <a:endParaRPr lang="en-US" sz="1800" dirty="0"/>
        </a:p>
      </dgm:t>
    </dgm:pt>
    <dgm:pt modelId="{9B256842-C54F-4214-A222-6BC3D1944AD7}" type="parTrans" cxnId="{9AB2F6ED-7CFC-429C-985E-D5DB54128923}">
      <dgm:prSet/>
      <dgm:spPr/>
      <dgm:t>
        <a:bodyPr/>
        <a:lstStyle/>
        <a:p>
          <a:endParaRPr lang="en-US"/>
        </a:p>
      </dgm:t>
    </dgm:pt>
    <dgm:pt modelId="{A2FECA06-BAD6-40B7-AD49-6A7358546297}" type="sibTrans" cxnId="{9AB2F6ED-7CFC-429C-985E-D5DB54128923}">
      <dgm:prSet/>
      <dgm:spPr/>
      <dgm:t>
        <a:bodyPr/>
        <a:lstStyle/>
        <a:p>
          <a:endParaRPr lang="en-US"/>
        </a:p>
      </dgm:t>
    </dgm:pt>
    <dgm:pt modelId="{2909DF8C-5D89-48C3-99DF-FF84CD578755}">
      <dgm:prSet/>
      <dgm:spPr/>
      <dgm:t>
        <a:bodyPr/>
        <a:lstStyle/>
        <a:p>
          <a:pPr rtl="0"/>
          <a:r>
            <a:rPr lang="fr-FR" dirty="0"/>
            <a:t>Be able to </a:t>
          </a:r>
          <a:r>
            <a:rPr lang="fr-FR" dirty="0" err="1"/>
            <a:t>create</a:t>
          </a:r>
          <a:r>
            <a:rPr lang="fr-FR" dirty="0"/>
            <a:t> </a:t>
          </a:r>
          <a:r>
            <a:rPr lang="fr-FR" dirty="0" err="1"/>
            <a:t>complex</a:t>
          </a:r>
          <a:r>
            <a:rPr lang="fr-FR" dirty="0"/>
            <a:t> </a:t>
          </a:r>
          <a:r>
            <a:rPr lang="fr-FR" dirty="0" err="1"/>
            <a:t>models</a:t>
          </a:r>
          <a:r>
            <a:rPr lang="fr-FR" dirty="0"/>
            <a:t> </a:t>
          </a:r>
          <a:r>
            <a:rPr lang="fr-FR" dirty="0" err="1"/>
            <a:t>using</a:t>
          </a:r>
          <a:r>
            <a:rPr lang="fr-FR" dirty="0"/>
            <a:t> </a:t>
          </a:r>
          <a:r>
            <a:rPr lang="fr-FR" dirty="0" err="1"/>
            <a:t>spreadsheets</a:t>
          </a:r>
          <a:endParaRPr lang="en-US" dirty="0"/>
        </a:p>
      </dgm:t>
    </dgm:pt>
    <dgm:pt modelId="{66AECB06-03F7-4DDA-A202-65EC8F6A589F}" type="parTrans" cxnId="{C9FDE64A-1A11-4034-AACE-A407DBDD1714}">
      <dgm:prSet/>
      <dgm:spPr/>
      <dgm:t>
        <a:bodyPr/>
        <a:lstStyle/>
        <a:p>
          <a:endParaRPr lang="en-US"/>
        </a:p>
      </dgm:t>
    </dgm:pt>
    <dgm:pt modelId="{6A83A67D-149D-4BB9-935A-2F67722F6463}" type="sibTrans" cxnId="{C9FDE64A-1A11-4034-AACE-A407DBDD1714}">
      <dgm:prSet/>
      <dgm:spPr/>
      <dgm:t>
        <a:bodyPr/>
        <a:lstStyle/>
        <a:p>
          <a:endParaRPr lang="en-US"/>
        </a:p>
      </dgm:t>
    </dgm:pt>
    <dgm:pt modelId="{13AE429A-38A2-4C0F-B919-33551F5442EB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Create</a:t>
          </a:r>
          <a:r>
            <a:rPr lang="fr-FR" sz="1800" dirty="0"/>
            <a:t> </a:t>
          </a:r>
          <a:r>
            <a:rPr lang="fr-FR" sz="1800" dirty="0" err="1"/>
            <a:t>models</a:t>
          </a:r>
          <a:r>
            <a:rPr lang="fr-FR" sz="1800" dirty="0"/>
            <a:t>, </a:t>
          </a:r>
          <a:r>
            <a:rPr lang="fr-FR" sz="1800" dirty="0" err="1"/>
            <a:t>simulate</a:t>
          </a:r>
          <a:r>
            <a:rPr lang="fr-FR" sz="1800" dirty="0"/>
            <a:t> changes of </a:t>
          </a:r>
          <a:r>
            <a:rPr lang="fr-FR" sz="1800" dirty="0" err="1"/>
            <a:t>uncontrollable</a:t>
          </a:r>
          <a:r>
            <a:rPr lang="fr-FR" sz="1800" dirty="0"/>
            <a:t> inputs, </a:t>
          </a:r>
          <a:r>
            <a:rPr lang="fr-FR" sz="1800" dirty="0" err="1"/>
            <a:t>see</a:t>
          </a:r>
          <a:r>
            <a:rPr lang="fr-FR" sz="1800" dirty="0"/>
            <a:t> the impact on </a:t>
          </a:r>
          <a:r>
            <a:rPr lang="fr-FR" sz="1800" dirty="0" err="1"/>
            <a:t>results</a:t>
          </a:r>
          <a:endParaRPr lang="en-US" sz="1800" dirty="0"/>
        </a:p>
      </dgm:t>
    </dgm:pt>
    <dgm:pt modelId="{B818CCBB-A3BA-47AA-9B42-7A4D530225E5}" type="parTrans" cxnId="{EA081B30-1BE5-4BF0-B200-FF644B32A84E}">
      <dgm:prSet/>
      <dgm:spPr/>
      <dgm:t>
        <a:bodyPr/>
        <a:lstStyle/>
        <a:p>
          <a:endParaRPr lang="en-US"/>
        </a:p>
      </dgm:t>
    </dgm:pt>
    <dgm:pt modelId="{C65DA91D-42DB-45C8-9CE1-7619E78E5BF9}" type="sibTrans" cxnId="{EA081B30-1BE5-4BF0-B200-FF644B32A84E}">
      <dgm:prSet/>
      <dgm:spPr/>
      <dgm:t>
        <a:bodyPr/>
        <a:lstStyle/>
        <a:p>
          <a:endParaRPr lang="en-US"/>
        </a:p>
      </dgm:t>
    </dgm:pt>
    <dgm:pt modelId="{26B3DC72-0DC1-498A-B1F5-EE347A352ABB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/>
            <a:t>Graph the </a:t>
          </a:r>
          <a:r>
            <a:rPr lang="fr-FR" sz="1800" dirty="0" err="1"/>
            <a:t>results</a:t>
          </a:r>
          <a:endParaRPr lang="en-US" sz="1800" dirty="0"/>
        </a:p>
      </dgm:t>
    </dgm:pt>
    <dgm:pt modelId="{B11EFF36-CFDA-4CF2-AEA3-BC2FF3BC4D8C}" type="parTrans" cxnId="{1CBEA80F-0F71-4E67-9A86-998A9C21D0BA}">
      <dgm:prSet/>
      <dgm:spPr/>
      <dgm:t>
        <a:bodyPr/>
        <a:lstStyle/>
        <a:p>
          <a:endParaRPr lang="en-US"/>
        </a:p>
      </dgm:t>
    </dgm:pt>
    <dgm:pt modelId="{1796E280-7715-41C3-9D7D-D7DC20B3EA97}" type="sibTrans" cxnId="{1CBEA80F-0F71-4E67-9A86-998A9C21D0BA}">
      <dgm:prSet/>
      <dgm:spPr/>
      <dgm:t>
        <a:bodyPr/>
        <a:lstStyle/>
        <a:p>
          <a:endParaRPr lang="en-US"/>
        </a:p>
      </dgm:t>
    </dgm:pt>
    <dgm:pt modelId="{52034C1A-C647-4629-B820-0E6250DADA0D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/>
            <a:t>Be able to use Pivot Tables</a:t>
          </a:r>
          <a:endParaRPr lang="en-US" sz="1800" dirty="0"/>
        </a:p>
      </dgm:t>
    </dgm:pt>
    <dgm:pt modelId="{FA543664-82DF-403C-B571-A42B8D2194EE}" type="parTrans" cxnId="{CE8659A6-7AEC-43F2-8FCE-2BB24864EA54}">
      <dgm:prSet/>
      <dgm:spPr/>
      <dgm:t>
        <a:bodyPr/>
        <a:lstStyle/>
        <a:p>
          <a:endParaRPr lang="en-US"/>
        </a:p>
      </dgm:t>
    </dgm:pt>
    <dgm:pt modelId="{29147251-6BCF-440A-AA55-01233F77F08F}" type="sibTrans" cxnId="{CE8659A6-7AEC-43F2-8FCE-2BB24864EA54}">
      <dgm:prSet/>
      <dgm:spPr/>
      <dgm:t>
        <a:bodyPr/>
        <a:lstStyle/>
        <a:p>
          <a:endParaRPr lang="en-US"/>
        </a:p>
      </dgm:t>
    </dgm:pt>
    <dgm:pt modelId="{445FE11D-0270-46EE-9B82-BE331C125438}">
      <dgm:prSet/>
      <dgm:spPr/>
      <dgm:t>
        <a:bodyPr/>
        <a:lstStyle/>
        <a:p>
          <a:pPr rtl="0"/>
          <a:r>
            <a:rPr lang="fr-FR" dirty="0"/>
            <a:t>Use </a:t>
          </a:r>
          <a:r>
            <a:rPr lang="fr-FR" dirty="0" err="1"/>
            <a:t>probabilities</a:t>
          </a:r>
          <a:r>
            <a:rPr lang="fr-FR" dirty="0"/>
            <a:t> in </a:t>
          </a:r>
          <a:r>
            <a:rPr lang="fr-FR" dirty="0" err="1"/>
            <a:t>models</a:t>
          </a:r>
          <a:endParaRPr lang="en-US" dirty="0"/>
        </a:p>
      </dgm:t>
    </dgm:pt>
    <dgm:pt modelId="{75873AB0-9C3B-42F8-89CD-A64D6930B3E1}" type="parTrans" cxnId="{64E1992D-46E1-452B-84D1-D1A98ECC3D55}">
      <dgm:prSet/>
      <dgm:spPr/>
      <dgm:t>
        <a:bodyPr/>
        <a:lstStyle/>
        <a:p>
          <a:endParaRPr lang="en-US"/>
        </a:p>
      </dgm:t>
    </dgm:pt>
    <dgm:pt modelId="{7ABDD423-2DB3-4608-B36E-EF459E7DA8CF}" type="sibTrans" cxnId="{64E1992D-46E1-452B-84D1-D1A98ECC3D55}">
      <dgm:prSet/>
      <dgm:spPr/>
      <dgm:t>
        <a:bodyPr/>
        <a:lstStyle/>
        <a:p>
          <a:endParaRPr lang="en-US"/>
        </a:p>
      </dgm:t>
    </dgm:pt>
    <dgm:pt modelId="{14235326-2371-462E-BE5A-E6D45E94002F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Simulate</a:t>
          </a:r>
          <a:r>
            <a:rPr lang="fr-FR" sz="1800" dirty="0"/>
            <a:t> </a:t>
          </a:r>
          <a:r>
            <a:rPr lang="fr-FR" sz="1800" dirty="0" err="1"/>
            <a:t>uncontrollable</a:t>
          </a:r>
          <a:r>
            <a:rPr lang="fr-FR" sz="1800" dirty="0"/>
            <a:t> inputs </a:t>
          </a:r>
          <a:r>
            <a:rPr lang="fr-FR" sz="1800" dirty="0" err="1"/>
            <a:t>using</a:t>
          </a:r>
          <a:r>
            <a:rPr lang="fr-FR" sz="1800" dirty="0"/>
            <a:t> </a:t>
          </a:r>
          <a:r>
            <a:rPr lang="fr-FR" sz="1800" dirty="0" err="1"/>
            <a:t>probability</a:t>
          </a:r>
          <a:r>
            <a:rPr lang="fr-FR" sz="1800" dirty="0"/>
            <a:t> distribution</a:t>
          </a:r>
          <a:endParaRPr lang="en-US" sz="1800" dirty="0"/>
        </a:p>
      </dgm:t>
    </dgm:pt>
    <dgm:pt modelId="{591A540D-9E1F-4462-86F6-4A4A6DC4F650}" type="parTrans" cxnId="{E9397E37-C8F3-4166-A12A-9A9B09E0DC1B}">
      <dgm:prSet/>
      <dgm:spPr/>
      <dgm:t>
        <a:bodyPr/>
        <a:lstStyle/>
        <a:p>
          <a:endParaRPr lang="en-US"/>
        </a:p>
      </dgm:t>
    </dgm:pt>
    <dgm:pt modelId="{37B2CDCB-CCF9-49B8-BAEE-3C0CDBDC7E96}" type="sibTrans" cxnId="{E9397E37-C8F3-4166-A12A-9A9B09E0DC1B}">
      <dgm:prSet/>
      <dgm:spPr/>
      <dgm:t>
        <a:bodyPr/>
        <a:lstStyle/>
        <a:p>
          <a:endParaRPr lang="en-US"/>
        </a:p>
      </dgm:t>
    </dgm:pt>
    <dgm:pt modelId="{73089F05-9995-4CE6-98C7-8AA6B83C88FD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Conduct</a:t>
          </a:r>
          <a:r>
            <a:rPr lang="fr-FR" sz="1800" dirty="0"/>
            <a:t> simulations</a:t>
          </a:r>
          <a:endParaRPr lang="en-US" sz="1800" dirty="0"/>
        </a:p>
      </dgm:t>
    </dgm:pt>
    <dgm:pt modelId="{0E8292A4-FA96-40F6-A576-3C055ED0DE03}" type="parTrans" cxnId="{FCA1A3FC-23F5-4131-8E4C-375AAC78E664}">
      <dgm:prSet/>
      <dgm:spPr/>
      <dgm:t>
        <a:bodyPr/>
        <a:lstStyle/>
        <a:p>
          <a:endParaRPr lang="en-US"/>
        </a:p>
      </dgm:t>
    </dgm:pt>
    <dgm:pt modelId="{2D76CA9A-EECF-4A69-AFAA-2179A8D56722}" type="sibTrans" cxnId="{FCA1A3FC-23F5-4131-8E4C-375AAC78E664}">
      <dgm:prSet/>
      <dgm:spPr/>
      <dgm:t>
        <a:bodyPr/>
        <a:lstStyle/>
        <a:p>
          <a:endParaRPr lang="en-US"/>
        </a:p>
      </dgm:t>
    </dgm:pt>
    <dgm:pt modelId="{81F7BC2D-E4B1-4694-B951-F44159BED3F9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fr-FR" sz="1800" dirty="0" err="1"/>
            <a:t>Controllable</a:t>
          </a:r>
          <a:r>
            <a:rPr lang="fr-FR" sz="1800" dirty="0"/>
            <a:t> Inputs (</a:t>
          </a:r>
          <a:r>
            <a:rPr lang="fr-FR" sz="1800" dirty="0" err="1"/>
            <a:t>decision</a:t>
          </a:r>
          <a:r>
            <a:rPr lang="fr-FR" sz="1800" dirty="0"/>
            <a:t> variables)</a:t>
          </a:r>
          <a:endParaRPr lang="en-US" sz="1800" dirty="0"/>
        </a:p>
      </dgm:t>
    </dgm:pt>
    <dgm:pt modelId="{26CBDF4F-BE00-4C9C-AC16-D0ED076D62CF}" type="parTrans" cxnId="{73437533-5354-4DB6-B853-4771DA3D0AB2}">
      <dgm:prSet/>
      <dgm:spPr/>
      <dgm:t>
        <a:bodyPr/>
        <a:lstStyle/>
        <a:p>
          <a:endParaRPr lang="en-US"/>
        </a:p>
      </dgm:t>
    </dgm:pt>
    <dgm:pt modelId="{CC1087E1-27BF-4B2F-82EB-31428B503E27}" type="sibTrans" cxnId="{73437533-5354-4DB6-B853-4771DA3D0AB2}">
      <dgm:prSet/>
      <dgm:spPr/>
      <dgm:t>
        <a:bodyPr/>
        <a:lstStyle/>
        <a:p>
          <a:endParaRPr lang="en-US"/>
        </a:p>
      </dgm:t>
    </dgm:pt>
    <dgm:pt modelId="{A420CAE3-A226-4450-A57D-38FA14D1ACD4}" type="pres">
      <dgm:prSet presAssocID="{3FA9846E-DCBE-4ADF-B9E7-6BC676F425E3}" presName="Name0" presStyleCnt="0">
        <dgm:presLayoutVars>
          <dgm:dir/>
          <dgm:animLvl val="lvl"/>
          <dgm:resizeHandles val="exact"/>
        </dgm:presLayoutVars>
      </dgm:prSet>
      <dgm:spPr/>
    </dgm:pt>
    <dgm:pt modelId="{10202B9B-1AF8-4698-B109-2384317CD68D}" type="pres">
      <dgm:prSet presAssocID="{E188B903-8753-4B98-B094-48E343DBB94C}" presName="composite" presStyleCnt="0"/>
      <dgm:spPr/>
    </dgm:pt>
    <dgm:pt modelId="{346450CA-E9EF-48C4-A2EE-AC6C75D80840}" type="pres">
      <dgm:prSet presAssocID="{E188B903-8753-4B98-B094-48E343DBB9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4FF570B-17AC-45E9-A239-7105C1A54D3C}" type="pres">
      <dgm:prSet presAssocID="{E188B903-8753-4B98-B094-48E343DBB94C}" presName="desTx" presStyleLbl="alignAccFollowNode1" presStyleIdx="0" presStyleCnt="3">
        <dgm:presLayoutVars>
          <dgm:bulletEnabled val="1"/>
        </dgm:presLayoutVars>
      </dgm:prSet>
      <dgm:spPr/>
    </dgm:pt>
    <dgm:pt modelId="{A01DDD51-1271-4B32-B97F-01A6D3C902FC}" type="pres">
      <dgm:prSet presAssocID="{D7FE6C38-7893-4F1F-A007-EB482915B9CB}" presName="space" presStyleCnt="0"/>
      <dgm:spPr/>
    </dgm:pt>
    <dgm:pt modelId="{FEA2A75C-AA71-4B05-9AFD-7C08DA65F915}" type="pres">
      <dgm:prSet presAssocID="{2909DF8C-5D89-48C3-99DF-FF84CD578755}" presName="composite" presStyleCnt="0"/>
      <dgm:spPr/>
    </dgm:pt>
    <dgm:pt modelId="{AFD9CCEA-B69F-43BD-9A06-4F5B30B0B247}" type="pres">
      <dgm:prSet presAssocID="{2909DF8C-5D89-48C3-99DF-FF84CD57875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7DD9761-08AD-46E8-B19C-820C0B4CBC30}" type="pres">
      <dgm:prSet presAssocID="{2909DF8C-5D89-48C3-99DF-FF84CD578755}" presName="desTx" presStyleLbl="alignAccFollowNode1" presStyleIdx="1" presStyleCnt="3">
        <dgm:presLayoutVars>
          <dgm:bulletEnabled val="1"/>
        </dgm:presLayoutVars>
      </dgm:prSet>
      <dgm:spPr/>
    </dgm:pt>
    <dgm:pt modelId="{58ED0F07-6F20-4292-AB7D-E31FAA33CFB7}" type="pres">
      <dgm:prSet presAssocID="{6A83A67D-149D-4BB9-935A-2F67722F6463}" presName="space" presStyleCnt="0"/>
      <dgm:spPr/>
    </dgm:pt>
    <dgm:pt modelId="{246F632F-B8BF-4643-864B-17A2D75B8ACA}" type="pres">
      <dgm:prSet presAssocID="{445FE11D-0270-46EE-9B82-BE331C125438}" presName="composite" presStyleCnt="0"/>
      <dgm:spPr/>
    </dgm:pt>
    <dgm:pt modelId="{AC76FCAF-6FD3-4100-BBC7-042A9B39A6EC}" type="pres">
      <dgm:prSet presAssocID="{445FE11D-0270-46EE-9B82-BE331C12543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B3A0CE7-E733-4208-BCA0-A9B40E164034}" type="pres">
      <dgm:prSet presAssocID="{445FE11D-0270-46EE-9B82-BE331C12543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CBEA80F-0F71-4E67-9A86-998A9C21D0BA}" srcId="{2909DF8C-5D89-48C3-99DF-FF84CD578755}" destId="{26B3DC72-0DC1-498A-B1F5-EE347A352ABB}" srcOrd="1" destOrd="0" parTransId="{B11EFF36-CFDA-4CF2-AEA3-BC2FF3BC4D8C}" sibTransId="{1796E280-7715-41C3-9D7D-D7DC20B3EA97}"/>
    <dgm:cxn modelId="{09539612-B0D9-4276-9C27-1096A2D43CD3}" type="presOf" srcId="{2909DF8C-5D89-48C3-99DF-FF84CD578755}" destId="{AFD9CCEA-B69F-43BD-9A06-4F5B30B0B247}" srcOrd="0" destOrd="0" presId="urn:microsoft.com/office/officeart/2005/8/layout/hList1"/>
    <dgm:cxn modelId="{9AFB2314-D654-423C-900E-4C115805E429}" type="presOf" srcId="{C170961D-BD92-4E21-93BB-52788F00BCD3}" destId="{44FF570B-17AC-45E9-A239-7105C1A54D3C}" srcOrd="0" destOrd="2" presId="urn:microsoft.com/office/officeart/2005/8/layout/hList1"/>
    <dgm:cxn modelId="{64E1992D-46E1-452B-84D1-D1A98ECC3D55}" srcId="{3FA9846E-DCBE-4ADF-B9E7-6BC676F425E3}" destId="{445FE11D-0270-46EE-9B82-BE331C125438}" srcOrd="2" destOrd="0" parTransId="{75873AB0-9C3B-42F8-89CD-A64D6930B3E1}" sibTransId="{7ABDD423-2DB3-4608-B36E-EF459E7DA8CF}"/>
    <dgm:cxn modelId="{EA081B30-1BE5-4BF0-B200-FF644B32A84E}" srcId="{2909DF8C-5D89-48C3-99DF-FF84CD578755}" destId="{13AE429A-38A2-4C0F-B919-33551F5442EB}" srcOrd="0" destOrd="0" parTransId="{B818CCBB-A3BA-47AA-9B42-7A4D530225E5}" sibTransId="{C65DA91D-42DB-45C8-9CE1-7619E78E5BF9}"/>
    <dgm:cxn modelId="{73437533-5354-4DB6-B853-4771DA3D0AB2}" srcId="{E188B903-8753-4B98-B094-48E343DBB94C}" destId="{81F7BC2D-E4B1-4694-B951-F44159BED3F9}" srcOrd="1" destOrd="0" parTransId="{26CBDF4F-BE00-4C9C-AC16-D0ED076D62CF}" sibTransId="{CC1087E1-27BF-4B2F-82EB-31428B503E27}"/>
    <dgm:cxn modelId="{E9397E37-C8F3-4166-A12A-9A9B09E0DC1B}" srcId="{445FE11D-0270-46EE-9B82-BE331C125438}" destId="{14235326-2371-462E-BE5A-E6D45E94002F}" srcOrd="0" destOrd="0" parTransId="{591A540D-9E1F-4462-86F6-4A4A6DC4F650}" sibTransId="{37B2CDCB-CCF9-49B8-BAEE-3C0CDBDC7E96}"/>
    <dgm:cxn modelId="{C9FDE64A-1A11-4034-AACE-A407DBDD1714}" srcId="{3FA9846E-DCBE-4ADF-B9E7-6BC676F425E3}" destId="{2909DF8C-5D89-48C3-99DF-FF84CD578755}" srcOrd="1" destOrd="0" parTransId="{66AECB06-03F7-4DDA-A202-65EC8F6A589F}" sibTransId="{6A83A67D-149D-4BB9-935A-2F67722F6463}"/>
    <dgm:cxn modelId="{8FD13367-5CDB-41E3-9D11-B890567818F4}" type="presOf" srcId="{13AE429A-38A2-4C0F-B919-33551F5442EB}" destId="{77DD9761-08AD-46E8-B19C-820C0B4CBC30}" srcOrd="0" destOrd="0" presId="urn:microsoft.com/office/officeart/2005/8/layout/hList1"/>
    <dgm:cxn modelId="{8B074776-C067-4D60-8A50-6396D8D67545}" type="presOf" srcId="{3FA9846E-DCBE-4ADF-B9E7-6BC676F425E3}" destId="{A420CAE3-A226-4450-A57D-38FA14D1ACD4}" srcOrd="0" destOrd="0" presId="urn:microsoft.com/office/officeart/2005/8/layout/hList1"/>
    <dgm:cxn modelId="{CF1A7C91-B449-42F4-9DB5-76C3702E7AFF}" srcId="{3FA9846E-DCBE-4ADF-B9E7-6BC676F425E3}" destId="{E188B903-8753-4B98-B094-48E343DBB94C}" srcOrd="0" destOrd="0" parTransId="{A57F8731-543C-4429-A8C6-9E430E0E9717}" sibTransId="{D7FE6C38-7893-4F1F-A007-EB482915B9CB}"/>
    <dgm:cxn modelId="{F5E45C9A-E35F-407C-9759-6482C1322921}" srcId="{E188B903-8753-4B98-B094-48E343DBB94C}" destId="{3892C8D2-B59E-4C60-B982-CAA6DB8A484D}" srcOrd="0" destOrd="0" parTransId="{BC010683-21A4-4F76-BB69-5D1AE68DD429}" sibTransId="{9E260891-9D61-47CB-A23D-50ACA0E5EC88}"/>
    <dgm:cxn modelId="{DA0B8C9E-1AF6-433B-A026-307B59954237}" type="presOf" srcId="{52034C1A-C647-4629-B820-0E6250DADA0D}" destId="{77DD9761-08AD-46E8-B19C-820C0B4CBC30}" srcOrd="0" destOrd="2" presId="urn:microsoft.com/office/officeart/2005/8/layout/hList1"/>
    <dgm:cxn modelId="{CE8659A6-7AEC-43F2-8FCE-2BB24864EA54}" srcId="{2909DF8C-5D89-48C3-99DF-FF84CD578755}" destId="{52034C1A-C647-4629-B820-0E6250DADA0D}" srcOrd="2" destOrd="0" parTransId="{FA543664-82DF-403C-B571-A42B8D2194EE}" sibTransId="{29147251-6BCF-440A-AA55-01233F77F08F}"/>
    <dgm:cxn modelId="{20F87CB1-898B-4F53-A709-499DA246C8E5}" type="presOf" srcId="{14235326-2371-462E-BE5A-E6D45E94002F}" destId="{0B3A0CE7-E733-4208-BCA0-A9B40E164034}" srcOrd="0" destOrd="0" presId="urn:microsoft.com/office/officeart/2005/8/layout/hList1"/>
    <dgm:cxn modelId="{7DA5EEB2-3703-47BC-92BC-5DE4162918E5}" type="presOf" srcId="{3892C8D2-B59E-4C60-B982-CAA6DB8A484D}" destId="{44FF570B-17AC-45E9-A239-7105C1A54D3C}" srcOrd="0" destOrd="0" presId="urn:microsoft.com/office/officeart/2005/8/layout/hList1"/>
    <dgm:cxn modelId="{6D3AB6BE-B5B2-492E-B539-A611CA96FF96}" type="presOf" srcId="{81F7BC2D-E4B1-4694-B951-F44159BED3F9}" destId="{44FF570B-17AC-45E9-A239-7105C1A54D3C}" srcOrd="0" destOrd="1" presId="urn:microsoft.com/office/officeart/2005/8/layout/hList1"/>
    <dgm:cxn modelId="{CF3D39C5-1D22-4617-B563-21C7E3475D8A}" type="presOf" srcId="{445FE11D-0270-46EE-9B82-BE331C125438}" destId="{AC76FCAF-6FD3-4100-BBC7-042A9B39A6EC}" srcOrd="0" destOrd="0" presId="urn:microsoft.com/office/officeart/2005/8/layout/hList1"/>
    <dgm:cxn modelId="{B9BDA4D1-0B31-4810-901F-2D2EEF79B5F7}" type="presOf" srcId="{E188B903-8753-4B98-B094-48E343DBB94C}" destId="{346450CA-E9EF-48C4-A2EE-AC6C75D80840}" srcOrd="0" destOrd="0" presId="urn:microsoft.com/office/officeart/2005/8/layout/hList1"/>
    <dgm:cxn modelId="{AFF4D1DB-CCF3-4CFD-A656-A4BEC1387C09}" type="presOf" srcId="{26B3DC72-0DC1-498A-B1F5-EE347A352ABB}" destId="{77DD9761-08AD-46E8-B19C-820C0B4CBC30}" srcOrd="0" destOrd="1" presId="urn:microsoft.com/office/officeart/2005/8/layout/hList1"/>
    <dgm:cxn modelId="{3706EFE3-67D2-4B77-AA6B-E91FF01FF6F9}" type="presOf" srcId="{73089F05-9995-4CE6-98C7-8AA6B83C88FD}" destId="{0B3A0CE7-E733-4208-BCA0-A9B40E164034}" srcOrd="0" destOrd="1" presId="urn:microsoft.com/office/officeart/2005/8/layout/hList1"/>
    <dgm:cxn modelId="{9AB2F6ED-7CFC-429C-985E-D5DB54128923}" srcId="{E188B903-8753-4B98-B094-48E343DBB94C}" destId="{C170961D-BD92-4E21-93BB-52788F00BCD3}" srcOrd="2" destOrd="0" parTransId="{9B256842-C54F-4214-A222-6BC3D1944AD7}" sibTransId="{A2FECA06-BAD6-40B7-AD49-6A7358546297}"/>
    <dgm:cxn modelId="{FCA1A3FC-23F5-4131-8E4C-375AAC78E664}" srcId="{445FE11D-0270-46EE-9B82-BE331C125438}" destId="{73089F05-9995-4CE6-98C7-8AA6B83C88FD}" srcOrd="1" destOrd="0" parTransId="{0E8292A4-FA96-40F6-A576-3C055ED0DE03}" sibTransId="{2D76CA9A-EECF-4A69-AFAA-2179A8D56722}"/>
    <dgm:cxn modelId="{8CFEB0F0-E4E7-4005-BC3D-3025F5AF10E4}" type="presParOf" srcId="{A420CAE3-A226-4450-A57D-38FA14D1ACD4}" destId="{10202B9B-1AF8-4698-B109-2384317CD68D}" srcOrd="0" destOrd="0" presId="urn:microsoft.com/office/officeart/2005/8/layout/hList1"/>
    <dgm:cxn modelId="{556CD8AF-450F-4910-B257-98973FF803E9}" type="presParOf" srcId="{10202B9B-1AF8-4698-B109-2384317CD68D}" destId="{346450CA-E9EF-48C4-A2EE-AC6C75D80840}" srcOrd="0" destOrd="0" presId="urn:microsoft.com/office/officeart/2005/8/layout/hList1"/>
    <dgm:cxn modelId="{684B05FD-0FBC-4710-8BC1-2FA008F48CB7}" type="presParOf" srcId="{10202B9B-1AF8-4698-B109-2384317CD68D}" destId="{44FF570B-17AC-45E9-A239-7105C1A54D3C}" srcOrd="1" destOrd="0" presId="urn:microsoft.com/office/officeart/2005/8/layout/hList1"/>
    <dgm:cxn modelId="{BC7FCDA8-CD9C-4CD7-A3C2-70FEE8E23771}" type="presParOf" srcId="{A420CAE3-A226-4450-A57D-38FA14D1ACD4}" destId="{A01DDD51-1271-4B32-B97F-01A6D3C902FC}" srcOrd="1" destOrd="0" presId="urn:microsoft.com/office/officeart/2005/8/layout/hList1"/>
    <dgm:cxn modelId="{DB3160B3-A46D-446E-9B8D-3602895F94A9}" type="presParOf" srcId="{A420CAE3-A226-4450-A57D-38FA14D1ACD4}" destId="{FEA2A75C-AA71-4B05-9AFD-7C08DA65F915}" srcOrd="2" destOrd="0" presId="urn:microsoft.com/office/officeart/2005/8/layout/hList1"/>
    <dgm:cxn modelId="{3EAA3338-0A8F-4E79-A299-19D059EB8261}" type="presParOf" srcId="{FEA2A75C-AA71-4B05-9AFD-7C08DA65F915}" destId="{AFD9CCEA-B69F-43BD-9A06-4F5B30B0B247}" srcOrd="0" destOrd="0" presId="urn:microsoft.com/office/officeart/2005/8/layout/hList1"/>
    <dgm:cxn modelId="{B41781C5-1625-46C8-97E3-57B6EE325CC4}" type="presParOf" srcId="{FEA2A75C-AA71-4B05-9AFD-7C08DA65F915}" destId="{77DD9761-08AD-46E8-B19C-820C0B4CBC30}" srcOrd="1" destOrd="0" presId="urn:microsoft.com/office/officeart/2005/8/layout/hList1"/>
    <dgm:cxn modelId="{F9D63012-2E8E-4084-B226-ADF8400CD5B7}" type="presParOf" srcId="{A420CAE3-A226-4450-A57D-38FA14D1ACD4}" destId="{58ED0F07-6F20-4292-AB7D-E31FAA33CFB7}" srcOrd="3" destOrd="0" presId="urn:microsoft.com/office/officeart/2005/8/layout/hList1"/>
    <dgm:cxn modelId="{AE8E3AC8-7FDC-49BF-BDE0-7BB802AFFD6E}" type="presParOf" srcId="{A420CAE3-A226-4450-A57D-38FA14D1ACD4}" destId="{246F632F-B8BF-4643-864B-17A2D75B8ACA}" srcOrd="4" destOrd="0" presId="urn:microsoft.com/office/officeart/2005/8/layout/hList1"/>
    <dgm:cxn modelId="{DC423B13-A61E-46C0-82E7-BEAA3E2A4EB2}" type="presParOf" srcId="{246F632F-B8BF-4643-864B-17A2D75B8ACA}" destId="{AC76FCAF-6FD3-4100-BBC7-042A9B39A6EC}" srcOrd="0" destOrd="0" presId="urn:microsoft.com/office/officeart/2005/8/layout/hList1"/>
    <dgm:cxn modelId="{917D1F4B-FED5-4A44-B5DF-45B9983A71E4}" type="presParOf" srcId="{246F632F-B8BF-4643-864B-17A2D75B8ACA}" destId="{0B3A0CE7-E733-4208-BCA0-A9B40E1640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450CA-E9EF-48C4-A2EE-AC6C75D80840}">
      <dsp:nvSpPr>
        <dsp:cNvPr id="0" name=""/>
        <dsp:cNvSpPr/>
      </dsp:nvSpPr>
      <dsp:spPr>
        <a:xfrm>
          <a:off x="2571" y="468855"/>
          <a:ext cx="2507456" cy="99422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 err="1"/>
            <a:t>Understand</a:t>
          </a:r>
          <a:r>
            <a:rPr lang="fr-FR" sz="2000" kern="1200" dirty="0"/>
            <a:t> Data </a:t>
          </a:r>
          <a:r>
            <a:rPr lang="fr-FR" sz="2000" kern="1200" dirty="0" err="1"/>
            <a:t>Modelling</a:t>
          </a:r>
          <a:r>
            <a:rPr lang="fr-FR" sz="2000" kern="1200" dirty="0"/>
            <a:t> </a:t>
          </a:r>
          <a:r>
            <a:rPr lang="fr-FR" sz="2000" kern="1200" dirty="0" err="1"/>
            <a:t>Principles</a:t>
          </a:r>
          <a:endParaRPr lang="en-US" sz="2000" kern="1200" dirty="0"/>
        </a:p>
      </dsp:txBody>
      <dsp:txXfrm>
        <a:off x="2571" y="468855"/>
        <a:ext cx="2507456" cy="994226"/>
      </dsp:txXfrm>
    </dsp:sp>
    <dsp:sp modelId="{44FF570B-17AC-45E9-A239-7105C1A54D3C}">
      <dsp:nvSpPr>
        <dsp:cNvPr id="0" name=""/>
        <dsp:cNvSpPr/>
      </dsp:nvSpPr>
      <dsp:spPr>
        <a:xfrm>
          <a:off x="2571" y="1463082"/>
          <a:ext cx="2507456" cy="25940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Uncontrollable</a:t>
          </a:r>
          <a:r>
            <a:rPr lang="fr-FR" sz="1800" kern="1200" dirty="0"/>
            <a:t> Inputs (</a:t>
          </a:r>
          <a:r>
            <a:rPr lang="fr-FR" sz="1800" kern="1200" dirty="0" err="1"/>
            <a:t>environmental</a:t>
          </a:r>
          <a:r>
            <a:rPr lang="fr-FR" sz="1800" kern="1200" dirty="0"/>
            <a:t> </a:t>
          </a:r>
          <a:r>
            <a:rPr lang="fr-FR" sz="1800" kern="1200" dirty="0" err="1"/>
            <a:t>factors</a:t>
          </a:r>
          <a:r>
            <a:rPr lang="fr-FR" sz="1800" kern="1200" dirty="0"/>
            <a:t>)</a:t>
          </a:r>
          <a:endParaRPr lang="en-US" sz="1800" kern="1200" dirty="0"/>
        </a:p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Controllable</a:t>
          </a:r>
          <a:r>
            <a:rPr lang="fr-FR" sz="1800" kern="1200" dirty="0"/>
            <a:t> Inputs (</a:t>
          </a:r>
          <a:r>
            <a:rPr lang="fr-FR" sz="1800" kern="1200" dirty="0" err="1"/>
            <a:t>decision</a:t>
          </a:r>
          <a:r>
            <a:rPr lang="fr-FR" sz="1800" kern="1200" dirty="0"/>
            <a:t> variables)</a:t>
          </a:r>
          <a:endParaRPr lang="en-US" sz="1800" kern="1200" dirty="0"/>
        </a:p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Mathematical</a:t>
          </a:r>
          <a:r>
            <a:rPr lang="fr-FR" sz="1800" kern="1200" dirty="0"/>
            <a:t> model</a:t>
          </a:r>
          <a:endParaRPr lang="en-US" sz="1800" kern="1200" dirty="0"/>
        </a:p>
      </dsp:txBody>
      <dsp:txXfrm>
        <a:off x="2571" y="1463082"/>
        <a:ext cx="2507456" cy="2594024"/>
      </dsp:txXfrm>
    </dsp:sp>
    <dsp:sp modelId="{AFD9CCEA-B69F-43BD-9A06-4F5B30B0B247}">
      <dsp:nvSpPr>
        <dsp:cNvPr id="0" name=""/>
        <dsp:cNvSpPr/>
      </dsp:nvSpPr>
      <dsp:spPr>
        <a:xfrm>
          <a:off x="2861071" y="468855"/>
          <a:ext cx="2507456" cy="99422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Be able to </a:t>
          </a:r>
          <a:r>
            <a:rPr lang="fr-FR" sz="2000" kern="1200" dirty="0" err="1"/>
            <a:t>create</a:t>
          </a:r>
          <a:r>
            <a:rPr lang="fr-FR" sz="2000" kern="1200" dirty="0"/>
            <a:t> </a:t>
          </a:r>
          <a:r>
            <a:rPr lang="fr-FR" sz="2000" kern="1200" dirty="0" err="1"/>
            <a:t>complex</a:t>
          </a:r>
          <a:r>
            <a:rPr lang="fr-FR" sz="2000" kern="1200" dirty="0"/>
            <a:t> </a:t>
          </a:r>
          <a:r>
            <a:rPr lang="fr-FR" sz="2000" kern="1200" dirty="0" err="1"/>
            <a:t>models</a:t>
          </a:r>
          <a:r>
            <a:rPr lang="fr-FR" sz="2000" kern="1200" dirty="0"/>
            <a:t> </a:t>
          </a:r>
          <a:r>
            <a:rPr lang="fr-FR" sz="2000" kern="1200" dirty="0" err="1"/>
            <a:t>using</a:t>
          </a:r>
          <a:r>
            <a:rPr lang="fr-FR" sz="2000" kern="1200" dirty="0"/>
            <a:t> </a:t>
          </a:r>
          <a:r>
            <a:rPr lang="fr-FR" sz="2000" kern="1200" dirty="0" err="1"/>
            <a:t>spreadsheets</a:t>
          </a:r>
          <a:endParaRPr lang="en-US" sz="2000" kern="1200" dirty="0"/>
        </a:p>
      </dsp:txBody>
      <dsp:txXfrm>
        <a:off x="2861071" y="468855"/>
        <a:ext cx="2507456" cy="994226"/>
      </dsp:txXfrm>
    </dsp:sp>
    <dsp:sp modelId="{77DD9761-08AD-46E8-B19C-820C0B4CBC30}">
      <dsp:nvSpPr>
        <dsp:cNvPr id="0" name=""/>
        <dsp:cNvSpPr/>
      </dsp:nvSpPr>
      <dsp:spPr>
        <a:xfrm>
          <a:off x="2861071" y="1463082"/>
          <a:ext cx="2507456" cy="25940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Create</a:t>
          </a:r>
          <a:r>
            <a:rPr lang="fr-FR" sz="1800" kern="1200" dirty="0"/>
            <a:t> </a:t>
          </a:r>
          <a:r>
            <a:rPr lang="fr-FR" sz="1800" kern="1200" dirty="0" err="1"/>
            <a:t>models</a:t>
          </a:r>
          <a:r>
            <a:rPr lang="fr-FR" sz="1800" kern="1200" dirty="0"/>
            <a:t>, </a:t>
          </a:r>
          <a:r>
            <a:rPr lang="fr-FR" sz="1800" kern="1200" dirty="0" err="1"/>
            <a:t>simulate</a:t>
          </a:r>
          <a:r>
            <a:rPr lang="fr-FR" sz="1800" kern="1200" dirty="0"/>
            <a:t> changes of </a:t>
          </a:r>
          <a:r>
            <a:rPr lang="fr-FR" sz="1800" kern="1200" dirty="0" err="1"/>
            <a:t>uncontrollable</a:t>
          </a:r>
          <a:r>
            <a:rPr lang="fr-FR" sz="1800" kern="1200" dirty="0"/>
            <a:t> inputs, </a:t>
          </a:r>
          <a:r>
            <a:rPr lang="fr-FR" sz="1800" kern="1200" dirty="0" err="1"/>
            <a:t>see</a:t>
          </a:r>
          <a:r>
            <a:rPr lang="fr-FR" sz="1800" kern="1200" dirty="0"/>
            <a:t> the impact on </a:t>
          </a:r>
          <a:r>
            <a:rPr lang="fr-FR" sz="1800" kern="1200" dirty="0" err="1"/>
            <a:t>results</a:t>
          </a:r>
          <a:endParaRPr lang="en-US" sz="1800" kern="1200" dirty="0"/>
        </a:p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Graph the </a:t>
          </a:r>
          <a:r>
            <a:rPr lang="fr-FR" sz="1800" kern="1200" dirty="0" err="1"/>
            <a:t>results</a:t>
          </a:r>
          <a:endParaRPr lang="en-US" sz="1800" kern="1200" dirty="0"/>
        </a:p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Be able to use Pivot Tables</a:t>
          </a:r>
          <a:endParaRPr lang="en-US" sz="1800" kern="1200" dirty="0"/>
        </a:p>
      </dsp:txBody>
      <dsp:txXfrm>
        <a:off x="2861071" y="1463082"/>
        <a:ext cx="2507456" cy="2594024"/>
      </dsp:txXfrm>
    </dsp:sp>
    <dsp:sp modelId="{AC76FCAF-6FD3-4100-BBC7-042A9B39A6EC}">
      <dsp:nvSpPr>
        <dsp:cNvPr id="0" name=""/>
        <dsp:cNvSpPr/>
      </dsp:nvSpPr>
      <dsp:spPr>
        <a:xfrm>
          <a:off x="5719571" y="468855"/>
          <a:ext cx="2507456" cy="99422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Use </a:t>
          </a:r>
          <a:r>
            <a:rPr lang="fr-FR" sz="2000" kern="1200" dirty="0" err="1"/>
            <a:t>probabilities</a:t>
          </a:r>
          <a:r>
            <a:rPr lang="fr-FR" sz="2000" kern="1200" dirty="0"/>
            <a:t> in </a:t>
          </a:r>
          <a:r>
            <a:rPr lang="fr-FR" sz="2000" kern="1200" dirty="0" err="1"/>
            <a:t>models</a:t>
          </a:r>
          <a:endParaRPr lang="en-US" sz="2000" kern="1200" dirty="0"/>
        </a:p>
      </dsp:txBody>
      <dsp:txXfrm>
        <a:off x="5719571" y="468855"/>
        <a:ext cx="2507456" cy="994226"/>
      </dsp:txXfrm>
    </dsp:sp>
    <dsp:sp modelId="{0B3A0CE7-E733-4208-BCA0-A9B40E164034}">
      <dsp:nvSpPr>
        <dsp:cNvPr id="0" name=""/>
        <dsp:cNvSpPr/>
      </dsp:nvSpPr>
      <dsp:spPr>
        <a:xfrm>
          <a:off x="5719571" y="1463082"/>
          <a:ext cx="2507456" cy="25940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Simulate</a:t>
          </a:r>
          <a:r>
            <a:rPr lang="fr-FR" sz="1800" kern="1200" dirty="0"/>
            <a:t> </a:t>
          </a:r>
          <a:r>
            <a:rPr lang="fr-FR" sz="1800" kern="1200" dirty="0" err="1"/>
            <a:t>uncontrollable</a:t>
          </a:r>
          <a:r>
            <a:rPr lang="fr-FR" sz="1800" kern="1200" dirty="0"/>
            <a:t> inputs </a:t>
          </a:r>
          <a:r>
            <a:rPr lang="fr-FR" sz="1800" kern="1200" dirty="0" err="1"/>
            <a:t>using</a:t>
          </a:r>
          <a:r>
            <a:rPr lang="fr-FR" sz="1800" kern="1200" dirty="0"/>
            <a:t> </a:t>
          </a:r>
          <a:r>
            <a:rPr lang="fr-FR" sz="1800" kern="1200" dirty="0" err="1"/>
            <a:t>probability</a:t>
          </a:r>
          <a:r>
            <a:rPr lang="fr-FR" sz="1800" kern="1200" dirty="0"/>
            <a:t> distribution</a:t>
          </a:r>
          <a:endParaRPr lang="en-US" sz="1800" kern="1200" dirty="0"/>
        </a:p>
        <a:p>
          <a:pPr marL="171450" lvl="1" indent="-171450" algn="l" defTabSz="8001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/>
            <a:t>Conduct</a:t>
          </a:r>
          <a:r>
            <a:rPr lang="fr-FR" sz="1800" kern="1200" dirty="0"/>
            <a:t> simulations</a:t>
          </a:r>
          <a:endParaRPr lang="en-US" sz="1800" kern="1200" dirty="0"/>
        </a:p>
      </dsp:txBody>
      <dsp:txXfrm>
        <a:off x="5719571" y="1463082"/>
        <a:ext cx="2507456" cy="2594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0.49161</cdr:x>
      <cdr:y>0.43548</cdr:y>
    </cdr:from>
    <cdr:to>
      <cdr:x>0.49161</cdr:x>
      <cdr:y>0.7963</cdr:y>
    </cdr:to>
    <cdr:cxnSp macro="">
      <cdr:nvCxnSpPr>
        <cdr:cNvPr id="3" name="Connecteur droit avec flèche 2">
          <a:extLst xmlns:a="http://schemas.openxmlformats.org/drawingml/2006/main">
            <a:ext uri="{FF2B5EF4-FFF2-40B4-BE49-F238E27FC236}">
              <a16:creationId xmlns:a16="http://schemas.microsoft.com/office/drawing/2014/main" id="{B42B45D1-9459-2A43-9AAF-E3B41516728B}"/>
            </a:ext>
          </a:extLst>
        </cdr:cNvPr>
        <cdr:cNvCxnSpPr/>
      </cdr:nvCxnSpPr>
      <cdr:spPr>
        <a:xfrm xmlns:a="http://schemas.openxmlformats.org/drawingml/2006/main" flipV="1">
          <a:off x="3240360" y="1800200"/>
          <a:ext cx="0" cy="1491576"/>
        </a:xfrm>
        <a:prstGeom xmlns:a="http://schemas.openxmlformats.org/drawingml/2006/main" prst="straightConnector1">
          <a:avLst/>
        </a:prstGeom>
        <a:ln xmlns:a="http://schemas.openxmlformats.org/drawingml/2006/main" w="25400">
          <a:solidFill>
            <a:schemeClr val="tx1"/>
          </a:solidFill>
          <a:tailEnd type="stealth" w="lg" len="lg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fr-FR" sz="800" dirty="0"/>
              <a:t>Décembre 2014 - Département MOSI 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9079F11-A212-487F-BFBF-2D248FEBD04F}" type="slidenum">
              <a:rPr lang="fr-FR" sz="1050"/>
              <a:pPr>
                <a:defRPr/>
              </a:pPr>
              <a:t>‹#›</a:t>
            </a:fld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2290110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78A6E634-5D39-450B-BF9F-07049A812F34}" type="datetimeFigureOut">
              <a:rPr lang="en-US"/>
              <a:pPr>
                <a:defRPr/>
              </a:pPr>
              <a:t>2/3/19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9ED2CEE-E4C9-4D91-B736-D5E2A9564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8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3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D2CEE-E4C9-4D91-B736-D5E2A9564D5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99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D2CEE-E4C9-4D91-B736-D5E2A9564D5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24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3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3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3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BCBCB-BB4C-4E78-AE2B-0E50EC8E7B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41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D2CEE-E4C9-4D91-B736-D5E2A9564D5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26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D2CEE-E4C9-4D91-B736-D5E2A9564D5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 du masque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4601A46-17BB-4095-BD97-576FE06633F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15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3C6F8-4579-48B1-A406-CEA23394D70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17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577F9-4AEC-425C-B5F3-E87A5D1BD77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19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83E97-0107-4D87-A33D-F0593DBA741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84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C27DC-EBFA-434E-8B09-4093378D95C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44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54891-09C3-426E-ABDD-32DEA682ECA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80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C5648-5871-4B14-935D-B368E4859E1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00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2C15E-ECA8-4100-915A-8D9D83FC91E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69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2C9AA-C851-45A9-BA46-73386C1EF7B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29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CCD4E-2C0C-4018-B611-CB9B48B7DBC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03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972300" y="131763"/>
            <a:ext cx="1982788" cy="600075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023938" y="131763"/>
            <a:ext cx="5795962" cy="60007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52A4A-2BF9-49BF-8B5A-DF2800AA101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80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90513" y="6127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73100" y="6127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4338" y="10350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84225" y="10350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9620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635000" y="5048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315913" y="1295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23938" y="131763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dirty="0"/>
              <a:t>Cliquez pour modifier le style du titre du masque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2EF2B1A-E974-468E-B371-74D5F85A749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Data </a:t>
            </a:r>
            <a:r>
              <a:rPr lang="fr-FR" dirty="0" err="1"/>
              <a:t>Modelling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Spreadsheets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20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15616" y="3200"/>
            <a:ext cx="7653536" cy="1143000"/>
          </a:xfrm>
        </p:spPr>
        <p:txBody>
          <a:bodyPr/>
          <a:lstStyle/>
          <a:p>
            <a:r>
              <a:rPr lang="fr-FR" dirty="0"/>
              <a:t>Course objectives</a:t>
            </a:r>
            <a:endParaRPr lang="en-US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730423"/>
              </p:ext>
            </p:extLst>
          </p:nvPr>
        </p:nvGraphicFramePr>
        <p:xfrm>
          <a:off x="457200" y="1844824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714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2688" y="2017713"/>
            <a:ext cx="6557664" cy="4114800"/>
          </a:xfrm>
        </p:spPr>
        <p:txBody>
          <a:bodyPr/>
          <a:lstStyle/>
          <a:p>
            <a:r>
              <a:rPr lang="fr-FR" dirty="0" err="1"/>
              <a:t>Let’s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Spreadsheets</a:t>
            </a:r>
            <a:r>
              <a:rPr lang="fr-FR" dirty="0"/>
              <a:t> first..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15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Modelling Principles</a:t>
            </a:r>
          </a:p>
        </p:txBody>
      </p:sp>
    </p:spTree>
    <p:extLst>
      <p:ext uri="{BB962C8B-B14F-4D97-AF65-F5344CB8AC3E}">
        <p14:creationId xmlns:p14="http://schemas.microsoft.com/office/powerpoint/2010/main" val="384542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Components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66555" y="2009998"/>
            <a:ext cx="2160240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 err="1">
                <a:solidFill>
                  <a:schemeClr val="tx1"/>
                </a:solidFill>
              </a:rPr>
              <a:t>Uncontrollable</a:t>
            </a:r>
            <a:r>
              <a:rPr lang="fr-FR" sz="1800" dirty="0">
                <a:solidFill>
                  <a:schemeClr val="tx1"/>
                </a:solidFill>
              </a:rPr>
              <a:t> Inputs (</a:t>
            </a:r>
            <a:r>
              <a:rPr lang="fr-FR" sz="1800" dirty="0" err="1">
                <a:solidFill>
                  <a:schemeClr val="tx1"/>
                </a:solidFill>
              </a:rPr>
              <a:t>environmental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factors</a:t>
            </a:r>
            <a:r>
              <a:rPr lang="fr-FR" sz="1800" dirty="0">
                <a:solidFill>
                  <a:schemeClr val="tx1"/>
                </a:solidFill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5499" y="4251973"/>
            <a:ext cx="2088232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 err="1">
                <a:solidFill>
                  <a:schemeClr val="tx1"/>
                </a:solidFill>
              </a:rPr>
              <a:t>Controllable</a:t>
            </a:r>
            <a:r>
              <a:rPr lang="fr-FR" sz="1800" dirty="0">
                <a:solidFill>
                  <a:schemeClr val="tx1"/>
                </a:solidFill>
              </a:rPr>
              <a:t> Inputs (</a:t>
            </a:r>
            <a:r>
              <a:rPr lang="fr-FR" sz="1800" dirty="0" err="1">
                <a:solidFill>
                  <a:schemeClr val="tx1"/>
                </a:solidFill>
              </a:rPr>
              <a:t>decision</a:t>
            </a:r>
            <a:r>
              <a:rPr lang="fr-FR" sz="1800" dirty="0">
                <a:solidFill>
                  <a:schemeClr val="tx1"/>
                </a:solidFill>
              </a:rPr>
              <a:t> variables)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6111171" y="3301445"/>
            <a:ext cx="2518875" cy="950528"/>
            <a:chOff x="6111171" y="3155688"/>
            <a:chExt cx="2518875" cy="950528"/>
          </a:xfrm>
        </p:grpSpPr>
        <p:sp>
          <p:nvSpPr>
            <p:cNvPr id="7" name="Rectangle 6"/>
            <p:cNvSpPr/>
            <p:nvPr/>
          </p:nvSpPr>
          <p:spPr>
            <a:xfrm>
              <a:off x="6541814" y="3155688"/>
              <a:ext cx="2088232" cy="95052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 err="1">
                  <a:solidFill>
                    <a:schemeClr val="tx1"/>
                  </a:solidFill>
                </a:rPr>
                <a:t>Results</a:t>
              </a:r>
              <a:r>
                <a:rPr lang="fr-FR" sz="2000" dirty="0">
                  <a:solidFill>
                    <a:schemeClr val="tx1"/>
                  </a:solidFill>
                </a:rPr>
                <a:t>, </a:t>
              </a:r>
            </a:p>
            <a:p>
              <a:pPr algn="ctr"/>
              <a:r>
                <a:rPr lang="fr-FR" sz="2000" dirty="0">
                  <a:solidFill>
                    <a:schemeClr val="tx1"/>
                  </a:solidFill>
                </a:rPr>
                <a:t>Graphs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Connecteur droit avec flèche 15"/>
            <p:cNvCxnSpPr>
              <a:stCxn id="4" idx="3"/>
              <a:endCxn id="7" idx="1"/>
            </p:cNvCxnSpPr>
            <p:nvPr/>
          </p:nvCxnSpPr>
          <p:spPr>
            <a:xfrm>
              <a:off x="6111171" y="3630952"/>
              <a:ext cx="43064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2"/>
          <p:cNvGrpSpPr/>
          <p:nvPr/>
        </p:nvGrpSpPr>
        <p:grpSpPr>
          <a:xfrm>
            <a:off x="2663731" y="2658070"/>
            <a:ext cx="3447440" cy="2241975"/>
            <a:chOff x="2663731" y="2512313"/>
            <a:chExt cx="3447440" cy="2241975"/>
          </a:xfrm>
        </p:grpSpPr>
        <p:sp>
          <p:nvSpPr>
            <p:cNvPr id="4" name="Rectangle 3"/>
            <p:cNvSpPr/>
            <p:nvPr/>
          </p:nvSpPr>
          <p:spPr>
            <a:xfrm>
              <a:off x="3950931" y="3234908"/>
              <a:ext cx="2160240" cy="79208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Mathematical</a:t>
              </a:r>
              <a:r>
                <a:rPr lang="fr-FR" dirty="0"/>
                <a:t> Model</a:t>
              </a:r>
              <a:endParaRPr lang="en-US" dirty="0"/>
            </a:p>
          </p:txBody>
        </p:sp>
        <p:cxnSp>
          <p:nvCxnSpPr>
            <p:cNvPr id="14" name="Connecteur droit avec flèche 13"/>
            <p:cNvCxnSpPr>
              <a:stCxn id="6" idx="3"/>
              <a:endCxn id="4" idx="1"/>
            </p:cNvCxnSpPr>
            <p:nvPr/>
          </p:nvCxnSpPr>
          <p:spPr>
            <a:xfrm flipV="1">
              <a:off x="2663731" y="3630952"/>
              <a:ext cx="1287200" cy="11233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>
              <a:stCxn id="5" idx="3"/>
              <a:endCxn id="4" idx="1"/>
            </p:cNvCxnSpPr>
            <p:nvPr/>
          </p:nvCxnSpPr>
          <p:spPr>
            <a:xfrm>
              <a:off x="2726795" y="2512313"/>
              <a:ext cx="1224136" cy="111863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/>
          <p:cNvGrpSpPr/>
          <p:nvPr/>
        </p:nvGrpSpPr>
        <p:grpSpPr>
          <a:xfrm>
            <a:off x="1691680" y="5590981"/>
            <a:ext cx="3426386" cy="646331"/>
            <a:chOff x="1691680" y="5445224"/>
            <a:chExt cx="3426386" cy="646331"/>
          </a:xfrm>
        </p:grpSpPr>
        <p:sp>
          <p:nvSpPr>
            <p:cNvPr id="19" name="ZoneTexte 18"/>
            <p:cNvSpPr txBox="1"/>
            <p:nvPr/>
          </p:nvSpPr>
          <p:spPr>
            <a:xfrm>
              <a:off x="2659444" y="5445224"/>
              <a:ext cx="24586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/>
                <a:t>Simulation:</a:t>
              </a:r>
            </a:p>
            <a:p>
              <a:r>
                <a:rPr lang="fr-FR" sz="1800" dirty="0"/>
                <a:t>Test </a:t>
              </a:r>
              <a:r>
                <a:rPr lang="fr-FR" sz="1800" dirty="0" err="1"/>
                <a:t>various</a:t>
              </a:r>
              <a:r>
                <a:rPr lang="fr-FR" sz="1800" dirty="0"/>
                <a:t> </a:t>
              </a:r>
              <a:r>
                <a:rPr lang="fr-FR" sz="1800" dirty="0" err="1"/>
                <a:t>decisions</a:t>
              </a:r>
              <a:endParaRPr lang="fr-FR" sz="1800" dirty="0"/>
            </a:p>
          </p:txBody>
        </p:sp>
        <p:sp>
          <p:nvSpPr>
            <p:cNvPr id="20" name="Étoile à 5 branches 19"/>
            <p:cNvSpPr/>
            <p:nvPr/>
          </p:nvSpPr>
          <p:spPr>
            <a:xfrm>
              <a:off x="1691680" y="5445224"/>
              <a:ext cx="630070" cy="612068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3154342" y="1615930"/>
            <a:ext cx="5378098" cy="1200329"/>
            <a:chOff x="3154342" y="1470173"/>
            <a:chExt cx="5378098" cy="1200329"/>
          </a:xfrm>
        </p:grpSpPr>
        <p:sp>
          <p:nvSpPr>
            <p:cNvPr id="21" name="Étoile à 5 branches 20"/>
            <p:cNvSpPr/>
            <p:nvPr/>
          </p:nvSpPr>
          <p:spPr>
            <a:xfrm>
              <a:off x="3154342" y="1484784"/>
              <a:ext cx="630070" cy="612068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3950931" y="1470173"/>
              <a:ext cx="458150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/>
                <a:t>Simulation:</a:t>
              </a:r>
            </a:p>
            <a:p>
              <a:pPr marL="285750" indent="-285750">
                <a:buFontTx/>
                <a:buChar char="-"/>
              </a:pPr>
              <a:r>
                <a:rPr lang="fr-FR" sz="1800" dirty="0"/>
                <a:t>Test the impact of modifications of </a:t>
              </a:r>
              <a:r>
                <a:rPr lang="fr-FR" sz="1800" dirty="0" err="1"/>
                <a:t>uncontrollable</a:t>
              </a:r>
              <a:r>
                <a:rPr lang="fr-FR" sz="1800" dirty="0"/>
                <a:t> inputs on </a:t>
              </a:r>
              <a:r>
                <a:rPr lang="fr-FR" sz="1800" dirty="0" err="1"/>
                <a:t>results</a:t>
              </a:r>
              <a:endParaRPr lang="fr-FR" sz="1800" dirty="0"/>
            </a:p>
            <a:p>
              <a:pPr marL="285750" indent="-285750">
                <a:buFontTx/>
                <a:buChar char="-"/>
              </a:pPr>
              <a:r>
                <a:rPr lang="fr-FR" sz="1800" dirty="0"/>
                <a:t>Use </a:t>
              </a:r>
              <a:r>
                <a:rPr lang="fr-FR" sz="1800" dirty="0" err="1"/>
                <a:t>probability</a:t>
              </a:r>
              <a:r>
                <a:rPr lang="fr-FR" sz="1800" dirty="0"/>
                <a:t>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27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err="1"/>
              <a:t>Example</a:t>
            </a:r>
            <a:r>
              <a:rPr lang="fr-FR" sz="3200" dirty="0"/>
              <a:t> : </a:t>
            </a:r>
            <a:r>
              <a:rPr lang="fr-FR" sz="3200" dirty="0" err="1"/>
              <a:t>Breakeven</a:t>
            </a:r>
            <a:r>
              <a:rPr lang="fr-FR" sz="3200" dirty="0"/>
              <a:t> </a:t>
            </a:r>
            <a:r>
              <a:rPr lang="fr-FR" sz="3200" dirty="0" err="1"/>
              <a:t>analysis</a:t>
            </a:r>
            <a:r>
              <a:rPr lang="fr-FR" sz="3200" dirty="0"/>
              <a:t> – </a:t>
            </a:r>
            <a:br>
              <a:rPr lang="fr-FR" sz="3200" dirty="0"/>
            </a:br>
            <a:r>
              <a:rPr lang="fr-FR" sz="3200" dirty="0"/>
              <a:t>Profit and Volume Model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3446875" y="3538847"/>
            <a:ext cx="2160240" cy="122413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Mathematical</a:t>
            </a:r>
            <a:r>
              <a:rPr lang="fr-FR" dirty="0"/>
              <a:t> Model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512" y="1928693"/>
            <a:ext cx="3096344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400" dirty="0" err="1">
                <a:solidFill>
                  <a:schemeClr val="tx1"/>
                </a:solidFill>
              </a:rPr>
              <a:t>Uncontrollable</a:t>
            </a:r>
            <a:r>
              <a:rPr lang="fr-FR" sz="1400" dirty="0">
                <a:solidFill>
                  <a:schemeClr val="tx1"/>
                </a:solidFill>
              </a:rPr>
              <a:t> Inputs</a:t>
            </a:r>
          </a:p>
          <a:p>
            <a:r>
              <a:rPr lang="fr-FR" sz="1400" b="1" dirty="0" err="1">
                <a:solidFill>
                  <a:schemeClr val="tx1"/>
                </a:solidFill>
              </a:rPr>
              <a:t>Selling</a:t>
            </a:r>
            <a:r>
              <a:rPr lang="fr-FR" sz="1400" b="1" dirty="0">
                <a:solidFill>
                  <a:schemeClr val="tx1"/>
                </a:solidFill>
              </a:rPr>
              <a:t> Price (P)</a:t>
            </a:r>
          </a:p>
          <a:p>
            <a:r>
              <a:rPr lang="fr-FR" sz="1400" b="1" dirty="0" err="1">
                <a:solidFill>
                  <a:schemeClr val="tx1"/>
                </a:solidFill>
              </a:rPr>
              <a:t>Fixed</a:t>
            </a:r>
            <a:r>
              <a:rPr lang="fr-FR" sz="1400" b="1" dirty="0">
                <a:solidFill>
                  <a:schemeClr val="tx1"/>
                </a:solidFill>
              </a:rPr>
              <a:t> </a:t>
            </a:r>
            <a:r>
              <a:rPr lang="fr-FR" sz="1400" b="1" dirty="0" err="1">
                <a:solidFill>
                  <a:schemeClr val="tx1"/>
                </a:solidFill>
              </a:rPr>
              <a:t>costs</a:t>
            </a:r>
            <a:r>
              <a:rPr lang="fr-FR" sz="1400" b="1" dirty="0">
                <a:solidFill>
                  <a:schemeClr val="tx1"/>
                </a:solidFill>
              </a:rPr>
              <a:t> (FC)</a:t>
            </a:r>
          </a:p>
          <a:p>
            <a:r>
              <a:rPr lang="fr-FR" sz="1400" b="1" dirty="0">
                <a:solidFill>
                  <a:schemeClr val="tx1"/>
                </a:solidFill>
              </a:rPr>
              <a:t>Unit variable </a:t>
            </a:r>
            <a:r>
              <a:rPr lang="fr-FR" sz="1400" b="1" dirty="0" err="1">
                <a:solidFill>
                  <a:schemeClr val="tx1"/>
                </a:solidFill>
              </a:rPr>
              <a:t>costs</a:t>
            </a:r>
            <a:r>
              <a:rPr lang="fr-FR" sz="1400" b="1" dirty="0">
                <a:solidFill>
                  <a:schemeClr val="tx1"/>
                </a:solidFill>
              </a:rPr>
              <a:t> (UVC)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5016847"/>
            <a:ext cx="2088232" cy="11521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Decision</a:t>
            </a:r>
            <a:r>
              <a:rPr lang="fr-FR" sz="1400" dirty="0">
                <a:solidFill>
                  <a:schemeClr val="tx1"/>
                </a:solidFill>
              </a:rPr>
              <a:t> Variable</a:t>
            </a:r>
          </a:p>
          <a:p>
            <a:pPr algn="ctr"/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Volume (V)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27195" y="3356992"/>
            <a:ext cx="2421270" cy="1587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Results</a:t>
            </a:r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Revenue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Profit / </a:t>
            </a:r>
            <a:r>
              <a:rPr lang="fr-FR" sz="1400" b="1" dirty="0" err="1">
                <a:solidFill>
                  <a:schemeClr val="tx1"/>
                </a:solidFill>
              </a:rPr>
              <a:t>Loss</a:t>
            </a:r>
            <a:endParaRPr lang="fr-FR" sz="1400" b="1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 err="1">
                <a:solidFill>
                  <a:schemeClr val="tx1"/>
                </a:solidFill>
              </a:rPr>
              <a:t>Breakeven</a:t>
            </a:r>
            <a:r>
              <a:rPr lang="fr-FR" sz="1400" b="1" dirty="0">
                <a:solidFill>
                  <a:schemeClr val="tx1"/>
                </a:solidFill>
              </a:rPr>
              <a:t> Point</a:t>
            </a:r>
          </a:p>
        </p:txBody>
      </p:sp>
      <p:cxnSp>
        <p:nvCxnSpPr>
          <p:cNvPr id="14" name="Connecteur droit avec flèche 13"/>
          <p:cNvCxnSpPr>
            <a:stCxn id="6" idx="0"/>
            <a:endCxn id="4" idx="1"/>
          </p:cNvCxnSpPr>
          <p:nvPr/>
        </p:nvCxnSpPr>
        <p:spPr>
          <a:xfrm flipV="1">
            <a:off x="1439652" y="4150915"/>
            <a:ext cx="2007223" cy="865932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4" idx="3"/>
            <a:endCxn id="7" idx="1"/>
          </p:cNvCxnSpPr>
          <p:nvPr/>
        </p:nvCxnSpPr>
        <p:spPr>
          <a:xfrm>
            <a:off x="5607115" y="4150915"/>
            <a:ext cx="72008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stCxn id="5" idx="2"/>
            <a:endCxn id="4" idx="1"/>
          </p:cNvCxnSpPr>
          <p:nvPr/>
        </p:nvCxnSpPr>
        <p:spPr>
          <a:xfrm>
            <a:off x="1727684" y="3080821"/>
            <a:ext cx="1719191" cy="107009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99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: </a:t>
            </a:r>
            <a:r>
              <a:rPr lang="fr-FR" dirty="0" err="1"/>
              <a:t>Breakeven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– </a:t>
            </a:r>
            <a:br>
              <a:rPr lang="fr-FR" dirty="0"/>
            </a:br>
            <a:r>
              <a:rPr lang="fr-FR" dirty="0"/>
              <a:t>Profit and Volume Model</a:t>
            </a:r>
            <a:endParaRPr lang="en-US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1520" y="1719942"/>
            <a:ext cx="4038600" cy="1684783"/>
          </a:xfrm>
        </p:spPr>
        <p:txBody>
          <a:bodyPr>
            <a:normAutofit lnSpcReduction="10000"/>
          </a:bodyPr>
          <a:lstStyle/>
          <a:p>
            <a:pPr algn="ctr">
              <a:spcAft>
                <a:spcPts val="600"/>
              </a:spcAft>
            </a:pPr>
            <a:r>
              <a:rPr lang="fr-FR" sz="2400" dirty="0" err="1"/>
              <a:t>Uncontrollable</a:t>
            </a:r>
            <a:r>
              <a:rPr lang="fr-FR" sz="2400" dirty="0"/>
              <a:t> Inputs</a:t>
            </a:r>
          </a:p>
          <a:p>
            <a:pPr lvl="1"/>
            <a:r>
              <a:rPr lang="fr-FR" sz="2000" dirty="0" err="1"/>
              <a:t>Selling</a:t>
            </a:r>
            <a:r>
              <a:rPr lang="fr-FR" sz="2000" dirty="0"/>
              <a:t> Price (P) </a:t>
            </a:r>
            <a:r>
              <a:rPr lang="fr-FR" sz="1900" dirty="0"/>
              <a:t>: 100€</a:t>
            </a:r>
          </a:p>
          <a:p>
            <a:pPr lvl="1"/>
            <a:r>
              <a:rPr lang="fr-FR" sz="1900" dirty="0" err="1"/>
              <a:t>Fixed</a:t>
            </a:r>
            <a:r>
              <a:rPr lang="fr-FR" sz="1900" dirty="0"/>
              <a:t> </a:t>
            </a:r>
            <a:r>
              <a:rPr lang="fr-FR" sz="1900" dirty="0" err="1"/>
              <a:t>Costs</a:t>
            </a:r>
            <a:r>
              <a:rPr lang="fr-FR" sz="1900" dirty="0"/>
              <a:t> (FC) : 200.000€</a:t>
            </a:r>
          </a:p>
          <a:p>
            <a:pPr lvl="1"/>
            <a:r>
              <a:rPr lang="fr-FR" sz="1900" dirty="0"/>
              <a:t>Unit var. </a:t>
            </a:r>
            <a:r>
              <a:rPr lang="fr-FR" sz="1900" dirty="0" err="1"/>
              <a:t>cost</a:t>
            </a:r>
            <a:r>
              <a:rPr lang="fr-FR" sz="1900" dirty="0"/>
              <a:t> (UVC) : 50€</a:t>
            </a:r>
          </a:p>
          <a:p>
            <a:pPr marL="0" indent="0">
              <a:buNone/>
            </a:pPr>
            <a:r>
              <a:rPr lang="fr-FR" sz="1200" dirty="0"/>
              <a:t>   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half" idx="2"/>
          </p:nvPr>
        </p:nvSpPr>
        <p:spPr>
          <a:xfrm>
            <a:off x="4427984" y="1719942"/>
            <a:ext cx="4608512" cy="1612776"/>
          </a:xfrm>
        </p:spPr>
        <p:txBody>
          <a:bodyPr>
            <a:normAutofit lnSpcReduction="10000"/>
          </a:bodyPr>
          <a:lstStyle/>
          <a:p>
            <a:r>
              <a:rPr lang="fr-FR" sz="2600" dirty="0" err="1"/>
              <a:t>Decision</a:t>
            </a:r>
            <a:r>
              <a:rPr lang="fr-FR" sz="2600" dirty="0"/>
              <a:t> Variables</a:t>
            </a:r>
          </a:p>
          <a:p>
            <a:pPr marL="342900" lvl="1" indent="-342900"/>
            <a:r>
              <a:rPr lang="fr-FR" sz="1900" dirty="0" err="1"/>
              <a:t>Demand</a:t>
            </a:r>
            <a:r>
              <a:rPr lang="fr-FR" sz="1900" dirty="0"/>
              <a:t> </a:t>
            </a:r>
            <a:r>
              <a:rPr lang="fr-FR" sz="1900" dirty="0" err="1"/>
              <a:t>forecast</a:t>
            </a:r>
            <a:r>
              <a:rPr lang="fr-FR" sz="1900" dirty="0"/>
              <a:t> 3800 </a:t>
            </a:r>
            <a:r>
              <a:rPr lang="fr-FR" sz="1900" dirty="0" err="1"/>
              <a:t>units</a:t>
            </a:r>
            <a:endParaRPr lang="fr-FR" sz="1900" dirty="0"/>
          </a:p>
          <a:p>
            <a:pPr marL="342900" lvl="1" indent="-342900"/>
            <a:r>
              <a:rPr lang="fr-FR" sz="1900" dirty="0"/>
              <a:t>Production </a:t>
            </a:r>
            <a:r>
              <a:rPr lang="fr-FR" sz="1900" dirty="0" err="1"/>
              <a:t>level</a:t>
            </a:r>
            <a:endParaRPr lang="fr-FR" sz="1900" dirty="0"/>
          </a:p>
          <a:p>
            <a:pPr marL="0" lvl="1" indent="0">
              <a:buNone/>
            </a:pPr>
            <a:r>
              <a:rPr lang="fr-FR" sz="1900" dirty="0"/>
              <a:t>      Volume (V) : 3800  </a:t>
            </a:r>
            <a:r>
              <a:rPr lang="fr-FR" sz="1900" b="1" dirty="0"/>
              <a:t>  </a:t>
            </a:r>
          </a:p>
          <a:p>
            <a:pPr marL="0" indent="0">
              <a:buNone/>
            </a:pPr>
            <a:endParaRPr lang="fr-FR" sz="2400" dirty="0"/>
          </a:p>
        </p:txBody>
      </p:sp>
      <p:grpSp>
        <p:nvGrpSpPr>
          <p:cNvPr id="9" name="Groupe 8"/>
          <p:cNvGrpSpPr/>
          <p:nvPr/>
        </p:nvGrpSpPr>
        <p:grpSpPr>
          <a:xfrm>
            <a:off x="605384" y="3645024"/>
            <a:ext cx="4608512" cy="2627714"/>
            <a:chOff x="605384" y="3645024"/>
            <a:chExt cx="4608512" cy="2627714"/>
          </a:xfrm>
        </p:grpSpPr>
        <p:sp>
          <p:nvSpPr>
            <p:cNvPr id="5" name="ZoneTexte 4"/>
            <p:cNvSpPr txBox="1"/>
            <p:nvPr/>
          </p:nvSpPr>
          <p:spPr>
            <a:xfrm>
              <a:off x="611560" y="4149080"/>
              <a:ext cx="3004349" cy="2123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</a:pPr>
              <a:r>
                <a:rPr lang="fr-FR" sz="2000" dirty="0" err="1">
                  <a:latin typeface="+mn-lt"/>
                </a:rPr>
                <a:t>Breakeven</a:t>
              </a:r>
              <a:r>
                <a:rPr lang="fr-FR" sz="2000" dirty="0">
                  <a:latin typeface="+mn-lt"/>
                </a:rPr>
                <a:t> Point?</a:t>
              </a:r>
            </a:p>
            <a:p>
              <a:r>
                <a:rPr lang="fr-FR" sz="2000" dirty="0"/>
                <a:t>    (revenue = </a:t>
              </a:r>
              <a:r>
                <a:rPr lang="fr-FR" sz="2000" dirty="0" err="1"/>
                <a:t>costs</a:t>
              </a:r>
              <a:r>
                <a:rPr lang="fr-FR" sz="2000" dirty="0"/>
                <a:t>)</a:t>
              </a:r>
            </a:p>
            <a:p>
              <a:r>
                <a:rPr lang="fr-FR" sz="800" dirty="0"/>
                <a:t>   </a:t>
              </a:r>
            </a:p>
            <a:p>
              <a:r>
                <a:rPr lang="fr-FR" sz="2000" dirty="0"/>
                <a:t>    V * P = FC + V * UVC</a:t>
              </a:r>
            </a:p>
            <a:p>
              <a:r>
                <a:rPr lang="fr-FR" sz="2000" dirty="0"/>
                <a:t>    V = FC / (P – UVC)</a:t>
              </a:r>
            </a:p>
            <a:p>
              <a:r>
                <a:rPr lang="fr-FR" sz="2000" dirty="0"/>
                <a:t>    V = 4000</a:t>
              </a:r>
              <a:r>
                <a:rPr lang="fr-FR" sz="2000" b="1" dirty="0"/>
                <a:t> </a:t>
              </a:r>
              <a:r>
                <a:rPr lang="fr-FR" sz="2000" dirty="0" err="1"/>
                <a:t>units</a:t>
              </a:r>
              <a:endParaRPr lang="fr-FR" sz="2000" dirty="0"/>
            </a:p>
            <a:p>
              <a:endParaRPr lang="en-US" dirty="0"/>
            </a:p>
          </p:txBody>
        </p:sp>
        <p:sp>
          <p:nvSpPr>
            <p:cNvPr id="7" name="Espace réservé du contenu 7"/>
            <p:cNvSpPr txBox="1">
              <a:spLocks/>
            </p:cNvSpPr>
            <p:nvPr/>
          </p:nvSpPr>
          <p:spPr bwMode="auto">
            <a:xfrm>
              <a:off x="605384" y="3645024"/>
              <a:ext cx="4608512" cy="648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18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fr-FR" sz="2000" dirty="0"/>
                <a:t>Profit or </a:t>
              </a:r>
              <a:r>
                <a:rPr lang="fr-FR" sz="2000" dirty="0" err="1"/>
                <a:t>Loss</a:t>
              </a:r>
              <a:r>
                <a:rPr lang="fr-FR" sz="2000" dirty="0"/>
                <a:t>?</a:t>
              </a:r>
            </a:p>
            <a:p>
              <a:pPr marL="0" indent="0">
                <a:buFont typeface="Wingdings" pitchFamily="2" charset="2"/>
                <a:buNone/>
              </a:pPr>
              <a:endParaRPr lang="fr-FR" sz="2400" kern="0" dirty="0"/>
            </a:p>
          </p:txBody>
        </p:sp>
      </p:grp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88008"/>
              </p:ext>
            </p:extLst>
          </p:nvPr>
        </p:nvGraphicFramePr>
        <p:xfrm>
          <a:off x="4644008" y="3861048"/>
          <a:ext cx="3312369" cy="2127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Results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Fixed costs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200 000 €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Variable Costs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190 000 €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=V*UVC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Total Costs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390 000 €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Revenue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380 000 €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=V*P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Profit/loss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-10 000 €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Breakeven Point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=FC/(P-UVC)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98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: </a:t>
            </a:r>
            <a:r>
              <a:rPr lang="fr-FR" dirty="0" err="1"/>
              <a:t>Breakeven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– </a:t>
            </a:r>
            <a:br>
              <a:rPr lang="fr-FR" dirty="0"/>
            </a:br>
            <a:r>
              <a:rPr lang="fr-FR" dirty="0"/>
              <a:t>Profit and Volume Model</a:t>
            </a:r>
            <a:endParaRPr lang="en-US" sz="3200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323528" y="1628800"/>
            <a:ext cx="8496944" cy="648072"/>
          </a:xfrm>
        </p:spPr>
        <p:txBody>
          <a:bodyPr/>
          <a:lstStyle/>
          <a:p>
            <a:r>
              <a:rPr lang="fr-FR" sz="2000" dirty="0"/>
              <a:t>Simulation (Test of </a:t>
            </a:r>
            <a:r>
              <a:rPr lang="fr-FR" sz="2000" dirty="0" err="1"/>
              <a:t>different</a:t>
            </a:r>
            <a:r>
              <a:rPr lang="fr-FR" sz="2000" dirty="0"/>
              <a:t> values of </a:t>
            </a:r>
            <a:r>
              <a:rPr lang="fr-FR" sz="2000" dirty="0" err="1"/>
              <a:t>decision</a:t>
            </a:r>
            <a:r>
              <a:rPr lang="fr-FR" sz="2000" dirty="0"/>
              <a:t> variable - volume)</a:t>
            </a:r>
            <a:endParaRPr lang="en-US" sz="2000" dirty="0"/>
          </a:p>
        </p:txBody>
      </p:sp>
      <p:graphicFrame>
        <p:nvGraphicFramePr>
          <p:cNvPr id="6" name="Graphique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959531"/>
              </p:ext>
            </p:extLst>
          </p:nvPr>
        </p:nvGraphicFramePr>
        <p:xfrm>
          <a:off x="1259632" y="2348880"/>
          <a:ext cx="6591300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6468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971600" y="2204864"/>
            <a:ext cx="7416824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71600" y="3284984"/>
            <a:ext cx="7416824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71600" y="4869160"/>
            <a:ext cx="7416824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 err="1"/>
              <a:t>Organizing</a:t>
            </a:r>
            <a:r>
              <a:rPr lang="fr-FR" sz="3200" dirty="0"/>
              <a:t> a Model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dirty="0" err="1"/>
              <a:t>spreadsheets</a:t>
            </a:r>
            <a:endParaRPr lang="en-US" sz="3200" dirty="0"/>
          </a:p>
        </p:txBody>
      </p:sp>
      <p:sp>
        <p:nvSpPr>
          <p:cNvPr id="7" name="ZoneTexte 6"/>
          <p:cNvSpPr txBox="1"/>
          <p:nvPr/>
        </p:nvSpPr>
        <p:spPr>
          <a:xfrm>
            <a:off x="2645030" y="1530828"/>
            <a:ext cx="3853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Create</a:t>
            </a:r>
            <a:r>
              <a:rPr lang="fr-FR" b="1" dirty="0"/>
              <a:t> 3 </a:t>
            </a:r>
            <a:r>
              <a:rPr lang="fr-FR" b="1" dirty="0" err="1"/>
              <a:t>different</a:t>
            </a:r>
            <a:r>
              <a:rPr lang="fr-FR" b="1" dirty="0"/>
              <a:t> areas</a:t>
            </a:r>
            <a:endParaRPr lang="en-US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568" y="2132856"/>
            <a:ext cx="8280920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fr-FR" dirty="0"/>
              <a:t>Inputs area</a:t>
            </a:r>
          </a:p>
          <a:p>
            <a:pPr lvl="1">
              <a:lnSpc>
                <a:spcPct val="120000"/>
              </a:lnSpc>
            </a:pPr>
            <a:r>
              <a:rPr lang="fr-FR" sz="2400" dirty="0"/>
              <a:t>Enter </a:t>
            </a:r>
            <a:r>
              <a:rPr lang="fr-FR" sz="2400" dirty="0" err="1"/>
              <a:t>here</a:t>
            </a:r>
            <a:r>
              <a:rPr lang="fr-FR" sz="2400" dirty="0"/>
              <a:t> all </a:t>
            </a:r>
            <a:r>
              <a:rPr lang="fr-FR" sz="2400" dirty="0" err="1"/>
              <a:t>uncontrollable</a:t>
            </a:r>
            <a:r>
              <a:rPr lang="fr-FR" sz="2400" dirty="0"/>
              <a:t> and </a:t>
            </a:r>
            <a:r>
              <a:rPr lang="fr-FR" sz="2400" dirty="0" err="1"/>
              <a:t>controllable</a:t>
            </a:r>
            <a:r>
              <a:rPr lang="fr-FR" sz="2400" dirty="0"/>
              <a:t> inputs </a:t>
            </a:r>
            <a:r>
              <a:rPr lang="fr-FR" dirty="0"/>
              <a:t> </a:t>
            </a:r>
            <a:r>
              <a:rPr lang="fr-FR" sz="2400" dirty="0"/>
              <a:t> </a:t>
            </a:r>
          </a:p>
          <a:p>
            <a:pPr>
              <a:lnSpc>
                <a:spcPct val="120000"/>
              </a:lnSpc>
            </a:pPr>
            <a:r>
              <a:rPr lang="fr-FR" dirty="0" err="1"/>
              <a:t>Results</a:t>
            </a:r>
            <a:r>
              <a:rPr lang="fr-FR" dirty="0"/>
              <a:t> area</a:t>
            </a:r>
          </a:p>
          <a:p>
            <a:pPr lvl="1">
              <a:lnSpc>
                <a:spcPct val="120000"/>
              </a:lnSpc>
            </a:pPr>
            <a:r>
              <a:rPr lang="fr-FR" sz="2400" dirty="0"/>
              <a:t>Do not enter data </a:t>
            </a:r>
            <a:r>
              <a:rPr lang="fr-FR" sz="2400" dirty="0" err="1"/>
              <a:t>here</a:t>
            </a:r>
            <a:r>
              <a:rPr lang="fr-FR" sz="2400" dirty="0"/>
              <a:t>, </a:t>
            </a:r>
            <a:r>
              <a:rPr lang="fr-FR" sz="2400" dirty="0" err="1"/>
              <a:t>only</a:t>
            </a:r>
            <a:r>
              <a:rPr lang="fr-FR" sz="2400" dirty="0"/>
              <a:t> formulas </a:t>
            </a:r>
            <a:r>
              <a:rPr lang="fr-FR" dirty="0"/>
              <a:t> </a:t>
            </a:r>
          </a:p>
          <a:p>
            <a:pPr lvl="1">
              <a:lnSpc>
                <a:spcPct val="120000"/>
              </a:lnSpc>
            </a:pPr>
            <a:r>
              <a:rPr lang="fr-FR" sz="2400" dirty="0" err="1"/>
              <a:t>Mathematical</a:t>
            </a:r>
            <a:r>
              <a:rPr lang="fr-FR" sz="2400" dirty="0"/>
              <a:t> model  </a:t>
            </a:r>
            <a:endParaRPr lang="fr-FR" dirty="0"/>
          </a:p>
          <a:p>
            <a:pPr>
              <a:lnSpc>
                <a:spcPct val="120000"/>
              </a:lnSpc>
            </a:pPr>
            <a:r>
              <a:rPr lang="fr-FR" dirty="0"/>
              <a:t>Simulation area</a:t>
            </a:r>
          </a:p>
          <a:p>
            <a:pPr lvl="1">
              <a:lnSpc>
                <a:spcPct val="120000"/>
              </a:lnSpc>
            </a:pPr>
            <a:r>
              <a:rPr lang="fr-FR" sz="2400" dirty="0" err="1"/>
              <a:t>Perform</a:t>
            </a:r>
            <a:r>
              <a:rPr lang="fr-FR" sz="2400" dirty="0"/>
              <a:t> </a:t>
            </a:r>
            <a:r>
              <a:rPr lang="fr-FR" sz="2400" dirty="0" err="1"/>
              <a:t>here</a:t>
            </a:r>
            <a:r>
              <a:rPr lang="fr-FR" sz="2400" dirty="0"/>
              <a:t> simulations to test the impact of changes in </a:t>
            </a:r>
            <a:r>
              <a:rPr lang="fr-FR" sz="2400" dirty="0" err="1"/>
              <a:t>uncontrollable</a:t>
            </a:r>
            <a:r>
              <a:rPr lang="fr-FR" sz="2400" dirty="0"/>
              <a:t> inputs and/or </a:t>
            </a:r>
            <a:r>
              <a:rPr lang="fr-FR" sz="2400" dirty="0" err="1"/>
              <a:t>decision</a:t>
            </a:r>
            <a:r>
              <a:rPr lang="fr-FR" sz="2400" dirty="0"/>
              <a:t> variables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950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Important </a:t>
            </a:r>
            <a:r>
              <a:rPr lang="fr-FR" dirty="0" err="1"/>
              <a:t>rules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designing</a:t>
            </a:r>
            <a:r>
              <a:rPr lang="fr-FR" dirty="0"/>
              <a:t> a model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700808"/>
            <a:ext cx="7772400" cy="468052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fr-FR" b="1" dirty="0"/>
              <a:t>Inputs Area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Enter </a:t>
            </a:r>
            <a:r>
              <a:rPr lang="fr-FR" dirty="0" err="1"/>
              <a:t>here</a:t>
            </a:r>
            <a:r>
              <a:rPr lang="fr-FR" dirty="0"/>
              <a:t> all </a:t>
            </a:r>
            <a:r>
              <a:rPr lang="fr-FR" dirty="0" err="1"/>
              <a:t>available</a:t>
            </a:r>
            <a:r>
              <a:rPr lang="fr-FR" dirty="0"/>
              <a:t> data (input </a:t>
            </a:r>
            <a:r>
              <a:rPr lang="fr-FR" dirty="0" err="1"/>
              <a:t>cells</a:t>
            </a:r>
            <a:r>
              <a:rPr lang="fr-FR" dirty="0"/>
              <a:t>)</a:t>
            </a:r>
          </a:p>
          <a:p>
            <a:pPr lvl="1">
              <a:lnSpc>
                <a:spcPct val="120000"/>
              </a:lnSpc>
            </a:pPr>
            <a:r>
              <a:rPr lang="fr-FR" dirty="0">
                <a:solidFill>
                  <a:srgbClr val="FF0000"/>
                </a:solidFill>
              </a:rPr>
              <a:t>Name </a:t>
            </a:r>
            <a:r>
              <a:rPr lang="fr-FR" dirty="0" err="1">
                <a:solidFill>
                  <a:srgbClr val="FF0000"/>
                </a:solidFill>
              </a:rPr>
              <a:t>each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parameter</a:t>
            </a:r>
            <a:endParaRPr lang="fr-FR" dirty="0"/>
          </a:p>
          <a:p>
            <a:pPr lvl="2">
              <a:lnSpc>
                <a:spcPct val="120000"/>
              </a:lnSpc>
            </a:pPr>
            <a:r>
              <a:rPr lang="fr-FR" dirty="0" err="1"/>
              <a:t>Easy</a:t>
            </a:r>
            <a:r>
              <a:rPr lang="fr-FR" dirty="0"/>
              <a:t>-to-</a:t>
            </a:r>
            <a:r>
              <a:rPr lang="fr-FR" dirty="0" err="1"/>
              <a:t>understand</a:t>
            </a:r>
            <a:r>
              <a:rPr lang="fr-FR" dirty="0"/>
              <a:t> formulas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No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bother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relative / </a:t>
            </a:r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cells</a:t>
            </a:r>
            <a:r>
              <a:rPr lang="fr-FR" dirty="0"/>
              <a:t> </a:t>
            </a:r>
            <a:r>
              <a:rPr lang="fr-FR" dirty="0" err="1"/>
              <a:t>addresses</a:t>
            </a:r>
            <a:endParaRPr lang="fr-FR" dirty="0"/>
          </a:p>
          <a:p>
            <a:pPr>
              <a:lnSpc>
                <a:spcPct val="120000"/>
              </a:lnSpc>
            </a:pPr>
            <a:r>
              <a:rPr lang="fr-FR" b="1" dirty="0" err="1"/>
              <a:t>Results</a:t>
            </a:r>
            <a:r>
              <a:rPr lang="fr-FR" b="1" dirty="0"/>
              <a:t> Area</a:t>
            </a:r>
          </a:p>
          <a:p>
            <a:pPr lvl="1">
              <a:lnSpc>
                <a:spcPct val="120000"/>
              </a:lnSpc>
            </a:pPr>
            <a:r>
              <a:rPr lang="fr-FR" dirty="0" err="1"/>
              <a:t>Define</a:t>
            </a:r>
            <a:r>
              <a:rPr lang="fr-FR" dirty="0"/>
              <a:t> the </a:t>
            </a:r>
            <a:r>
              <a:rPr lang="fr-FR" dirty="0" err="1"/>
              <a:t>mathematical</a:t>
            </a:r>
            <a:r>
              <a:rPr lang="fr-FR" dirty="0"/>
              <a:t> model and test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specfic</a:t>
            </a:r>
            <a:r>
              <a:rPr lang="fr-FR" dirty="0"/>
              <a:t> input values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Be </a:t>
            </a:r>
            <a:r>
              <a:rPr lang="fr-FR" dirty="0" err="1"/>
              <a:t>careful</a:t>
            </a:r>
            <a:r>
              <a:rPr lang="fr-FR" dirty="0"/>
              <a:t> to </a:t>
            </a:r>
            <a:r>
              <a:rPr lang="fr-FR" dirty="0" err="1"/>
              <a:t>anticipate</a:t>
            </a:r>
            <a:r>
              <a:rPr lang="fr-FR" dirty="0"/>
              <a:t> all possible inputs values </a:t>
            </a:r>
          </a:p>
          <a:p>
            <a:pPr lvl="1">
              <a:lnSpc>
                <a:spcPct val="120000"/>
              </a:lnSpc>
            </a:pPr>
            <a:r>
              <a:rPr lang="fr-FR" dirty="0">
                <a:solidFill>
                  <a:srgbClr val="FF0000"/>
                </a:solidFill>
              </a:rPr>
              <a:t>Never enter input values in </a:t>
            </a:r>
            <a:r>
              <a:rPr lang="fr-FR" dirty="0" err="1">
                <a:solidFill>
                  <a:srgbClr val="FF0000"/>
                </a:solidFill>
              </a:rPr>
              <a:t>your</a:t>
            </a:r>
            <a:r>
              <a:rPr lang="fr-FR" dirty="0">
                <a:solidFill>
                  <a:srgbClr val="FF0000"/>
                </a:solidFill>
              </a:rPr>
              <a:t> formulas</a:t>
            </a:r>
            <a:r>
              <a:rPr lang="fr-FR" dirty="0"/>
              <a:t>, use input </a:t>
            </a:r>
            <a:r>
              <a:rPr lang="fr-FR" dirty="0" err="1"/>
              <a:t>cells</a:t>
            </a:r>
            <a:endParaRPr lang="fr-FR" dirty="0"/>
          </a:p>
          <a:p>
            <a:pPr>
              <a:lnSpc>
                <a:spcPct val="120000"/>
              </a:lnSpc>
            </a:pPr>
            <a:r>
              <a:rPr lang="fr-FR" b="1" dirty="0"/>
              <a:t>Simulation Area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Works </a:t>
            </a:r>
            <a:r>
              <a:rPr lang="fr-FR" dirty="0" err="1"/>
              <a:t>only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use Input </a:t>
            </a:r>
            <a:r>
              <a:rPr lang="fr-FR" dirty="0" err="1"/>
              <a:t>cells</a:t>
            </a:r>
            <a:r>
              <a:rPr lang="fr-FR" dirty="0"/>
              <a:t> and if </a:t>
            </a:r>
            <a:r>
              <a:rPr lang="fr-FR" dirty="0" err="1"/>
              <a:t>your</a:t>
            </a:r>
            <a:r>
              <a:rPr lang="fr-FR" dirty="0"/>
              <a:t> formulas </a:t>
            </a:r>
            <a:r>
              <a:rPr lang="fr-FR" dirty="0" err="1"/>
              <a:t>can</a:t>
            </a:r>
            <a:r>
              <a:rPr lang="fr-FR" dirty="0"/>
              <a:t> deal </a:t>
            </a:r>
            <a:r>
              <a:rPr lang="fr-FR" dirty="0" err="1"/>
              <a:t>with</a:t>
            </a:r>
            <a:r>
              <a:rPr lang="fr-FR" dirty="0"/>
              <a:t> all possible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62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DD5D-225E-0C44-A0BF-5E072ED9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BF7B-9562-E64C-A568-11FD9C2D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a look at Exercise 1 for hands-on…</a:t>
            </a:r>
          </a:p>
        </p:txBody>
      </p:sp>
    </p:spTree>
    <p:extLst>
      <p:ext uri="{BB962C8B-B14F-4D97-AF65-F5344CB8AC3E}">
        <p14:creationId xmlns:p14="http://schemas.microsoft.com/office/powerpoint/2010/main" val="1515982070"/>
      </p:ext>
    </p:extLst>
  </p:cSld>
  <p:clrMapOvr>
    <a:masterClrMapping/>
  </p:clrMapOvr>
</p:sld>
</file>

<file path=ppt/theme/theme1.xml><?xml version="1.0" encoding="utf-8"?>
<a:theme xmlns:a="http://schemas.openxmlformats.org/drawingml/2006/main" name="Fusion">
  <a:themeElements>
    <a:clrScheme name="Fusion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Fusio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usio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Office2K\Templates\Presentation Designs\Fusion.pot</Template>
  <TotalTime>3165</TotalTime>
  <Words>458</Words>
  <Application>Microsoft Macintosh PowerPoint</Application>
  <PresentationFormat>On-screen Show (4:3)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Tahoma</vt:lpstr>
      <vt:lpstr>Wingdings</vt:lpstr>
      <vt:lpstr>Fusion</vt:lpstr>
      <vt:lpstr>Data Modelling using Spreadsheets</vt:lpstr>
      <vt:lpstr>Course objectives</vt:lpstr>
      <vt:lpstr>PowerPoint Presentation</vt:lpstr>
      <vt:lpstr>Modelling Principles</vt:lpstr>
      <vt:lpstr>Model Components</vt:lpstr>
      <vt:lpstr>Example : Breakeven analysis –  Profit and Volume Model</vt:lpstr>
      <vt:lpstr>Example : Breakeven analysis –  Profit and Volume Model</vt:lpstr>
      <vt:lpstr>Example : Breakeven analysis –  Profit and Volume Model</vt:lpstr>
      <vt:lpstr>Organizing a Model with spreadsheets</vt:lpstr>
      <vt:lpstr>Important rules when designing a model</vt:lpstr>
      <vt:lpstr>PowerPoint Presentation</vt:lpstr>
    </vt:vector>
  </TitlesOfParts>
  <Company>HEC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Fonction de coût</dc:title>
  <dc:creator>HEC</dc:creator>
  <cp:lastModifiedBy>Sangseok YOU</cp:lastModifiedBy>
  <cp:revision>111</cp:revision>
  <cp:lastPrinted>2014-12-02T14:30:02Z</cp:lastPrinted>
  <dcterms:created xsi:type="dcterms:W3CDTF">2005-10-11T15:57:13Z</dcterms:created>
  <dcterms:modified xsi:type="dcterms:W3CDTF">2019-02-03T22:08:47Z</dcterms:modified>
</cp:coreProperties>
</file>
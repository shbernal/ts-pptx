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1415" autoAdjust="0"/>
    <p:restoredTop sz="94660"/>
  </p:normalViewPr>
  <p:slideViewPr>
    <p:cSldViewPr snapToGrid="0">
      <p:cViewPr varScale="1">
        <p:scale>
          <a:sx n="10" d="100"/>
          <a:sy n="10" d="100"/>
        </p:scale>
        <p:origin x="-44" y="-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</c:v>
                </c:pt>
              </c:strCache>
            </c:strRef>
          </c:tx>
          <c:spPr>
            <a:ln w="381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numRef>
              <c:f>Sheet1!$A$2:$A$5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2.5</c:v>
                </c:pt>
                <c:pt idx="1">
                  <c:v>4</c:v>
                </c:pt>
                <c:pt idx="2">
                  <c:v>3.5</c:v>
                </c:pt>
                <c:pt idx="3">
                  <c:v>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B2BD-4552-8F79-D20DB4341F1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689943888"/>
        <c:axId val="627182255"/>
      </c:scatterChart>
      <c:valAx>
        <c:axId val="689943888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27182255"/>
        <c:crosses val="autoZero"/>
        <c:crossBetween val="midCat"/>
      </c:valAx>
      <c:valAx>
        <c:axId val="62718225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89943888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ubbleChart>
        <c:varyColors val="0"/>
        <c:ser>
          <c:idx val="0"/>
          <c:order val="0"/>
          <c:spPr>
            <a:solidFill>
              <a:schemeClr val="accent1">
                <a:alpha val="75000"/>
              </a:schemeClr>
            </a:solidFill>
            <a:ln>
              <a:noFill/>
            </a:ln>
            <a:effectLst/>
          </c:spPr>
          <c:invertIfNegative val="0"/>
          <c:xVal>
            <c:numRef>
              <c:f>Sheet1!$A$2:$A$5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6</c:v>
                </c:pt>
              </c:numCache>
            </c:numRef>
          </c:yVal>
          <c:bubbleSize>
            <c:numRef>
              <c:f>Sheet1!$C$2:$C$5</c:f>
              <c:numCache>
                <c:formatCode>General</c:formatCode>
                <c:ptCount val="4"/>
                <c:pt idx="0">
                  <c:v>5</c:v>
                </c:pt>
                <c:pt idx="1">
                  <c:v>10</c:v>
                </c:pt>
                <c:pt idx="2">
                  <c:v>7</c:v>
                </c:pt>
                <c:pt idx="3">
                  <c:v>12</c:v>
                </c:pt>
              </c:numCache>
            </c:numRef>
          </c:bubbleSize>
          <c:bubble3D val="0"/>
          <c:extLst>
            <c:ext xmlns:c16="http://schemas.microsoft.com/office/drawing/2014/chart" uri="{C3380CC4-5D6E-409C-BE32-E72D297353CC}">
              <c16:uniqueId val="{00000000-6B08-4669-A1D0-CA208052860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bubbleScale val="100"/>
        <c:showNegBubbles val="0"/>
        <c:axId val="689948064"/>
        <c:axId val="486069391"/>
      </c:bubbleChart>
      <c:valAx>
        <c:axId val="689948064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86069391"/>
        <c:crosses val="autoZero"/>
        <c:crossBetween val="midCat"/>
      </c:valAx>
      <c:valAx>
        <c:axId val="48606939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89948064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multiLvlStrRef>
              <c:f>Sheet1!$A$2:$B$5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Q1</c:v>
                  </c:pt>
                  <c:pt idx="3">
                    <c:v>Q2</c:v>
                  </c:pt>
                </c:lvl>
                <c:lvl>
                  <c:pt idx="0">
                    <c:v>North</c:v>
                  </c:pt>
                  <c:pt idx="2">
                    <c:v>South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8</c:v>
                </c:pt>
                <c:pt idx="3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4DB-4845-AD5B-CFE5AED05C7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568321935"/>
        <c:axId val="486073231"/>
      </c:barChart>
      <c:catAx>
        <c:axId val="56832193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86073231"/>
        <c:crosses val="autoZero"/>
        <c:auto val="1"/>
        <c:lblAlgn val="ctr"/>
        <c:lblOffset val="100"/>
        <c:noMultiLvlLbl val="0"/>
      </c:catAx>
      <c:valAx>
        <c:axId val="48607323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6832193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South</c:v>
                </c:pt>
                <c:pt idx="2">
                  <c:v>East</c:v>
                </c:pt>
                <c:pt idx="3">
                  <c:v>West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25</c:v>
                </c:pt>
                <c:pt idx="2">
                  <c:v>22</c:v>
                </c:pt>
                <c:pt idx="3">
                  <c:v>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C45-417A-8A5F-ACFAA846C8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</c:v>
                </c:pt>
              </c:strCache>
            </c:strRef>
          </c:tx>
          <c:spPr>
            <a:ln w="381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2026e</c:v>
                </c:pt>
              </c:strCache>
            </c:str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2.5</c:v>
                </c:pt>
                <c:pt idx="1">
                  <c:v>4</c:v>
                </c:pt>
                <c:pt idx="2">
                  <c:v>3.5</c:v>
                </c:pt>
                <c:pt idx="3">
                  <c:v>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D9E6-44A5-AD44-BBF419C0912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689941568"/>
        <c:axId val="486075151"/>
      </c:scatterChart>
      <c:valAx>
        <c:axId val="689941568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86075151"/>
        <c:crosses val="autoZero"/>
        <c:crossBetween val="midCat"/>
      </c:valAx>
      <c:valAx>
        <c:axId val="48607515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89941568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ubbleChart>
        <c:varyColors val="0"/>
        <c:ser>
          <c:idx val="0"/>
          <c:order val="0"/>
          <c:spPr>
            <a:solidFill>
              <a:schemeClr val="accent1">
                <a:alpha val="75000"/>
              </a:schemeClr>
            </a:solidFill>
            <a:ln>
              <a:noFill/>
            </a:ln>
            <a:effectLst/>
          </c:spPr>
          <c:invertIfNegative val="0"/>
          <c:xVal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2026e</c:v>
                </c:pt>
              </c:strCache>
            </c:str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6</c:v>
                </c:pt>
              </c:numCache>
            </c:numRef>
          </c:yVal>
          <c:bubbleSize>
            <c:numRef>
              <c:f>Sheet1!$C$2:$C$5</c:f>
              <c:numCache>
                <c:formatCode>General</c:formatCode>
                <c:ptCount val="4"/>
                <c:pt idx="0">
                  <c:v>5</c:v>
                </c:pt>
                <c:pt idx="1">
                  <c:v>10</c:v>
                </c:pt>
                <c:pt idx="2">
                  <c:v>7</c:v>
                </c:pt>
                <c:pt idx="3">
                  <c:v>12</c:v>
                </c:pt>
              </c:numCache>
            </c:numRef>
          </c:bubbleSize>
          <c:bubble3D val="0"/>
          <c:extLst>
            <c:ext xmlns:c16="http://schemas.microsoft.com/office/drawing/2014/chart" uri="{C3380CC4-5D6E-409C-BE32-E72D297353CC}">
              <c16:uniqueId val="{00000000-1926-4F51-A116-2FE301A2520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bubbleScale val="100"/>
        <c:showNegBubbles val="0"/>
        <c:axId val="689940176"/>
        <c:axId val="486095791"/>
      </c:bubbleChart>
      <c:valAx>
        <c:axId val="689940176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86095791"/>
        <c:crosses val="autoZero"/>
        <c:crossBetween val="midCat"/>
      </c:valAx>
      <c:valAx>
        <c:axId val="48609579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89940176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ubbleChart>
        <c:varyColors val="0"/>
        <c:ser>
          <c:idx val="0"/>
          <c:order val="0"/>
          <c:spPr>
            <a:solidFill>
              <a:schemeClr val="accent1">
                <a:alpha val="75000"/>
              </a:schemeClr>
            </a:solidFill>
            <a:ln>
              <a:noFill/>
            </a:ln>
            <a:effectLst/>
          </c:spPr>
          <c:invertIfNegative val="0"/>
          <c:y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6</c:v>
                </c:pt>
              </c:numCache>
            </c:numRef>
          </c:yVal>
          <c:bubbleSize>
            <c:numRef>
              <c:f>Sheet1!$C$2:$C$5</c:f>
              <c:numCache>
                <c:formatCode>General</c:formatCode>
                <c:ptCount val="4"/>
                <c:pt idx="0">
                  <c:v>5</c:v>
                </c:pt>
                <c:pt idx="1">
                  <c:v>10</c:v>
                </c:pt>
                <c:pt idx="2">
                  <c:v>7</c:v>
                </c:pt>
                <c:pt idx="3">
                  <c:v>12</c:v>
                </c:pt>
              </c:numCache>
            </c:numRef>
          </c:bubbleSize>
          <c:bubble3D val="0"/>
          <c:extLst>
            <c:ext xmlns:c16="http://schemas.microsoft.com/office/drawing/2014/chart" uri="{C3380CC4-5D6E-409C-BE32-E72D297353CC}">
              <c16:uniqueId val="{00000000-4CCE-4EA7-90CD-C5B63279C85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bubbleScale val="100"/>
        <c:showNegBubbles val="0"/>
        <c:axId val="689937856"/>
        <c:axId val="486096271"/>
      </c:bubbleChart>
      <c:valAx>
        <c:axId val="689937856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86096271"/>
        <c:crosses val="autoZero"/>
        <c:crossBetween val="midCat"/>
      </c:valAx>
      <c:valAx>
        <c:axId val="48609627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89937856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</c:v>
                </c:pt>
              </c:strCache>
            </c:strRef>
          </c:tx>
          <c:spPr>
            <a:ln w="381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yVal>
            <c:numRef>
              <c:f>Sheet1!$B$2:$B$5</c:f>
              <c:numCache>
                <c:formatCode>General</c:formatCode>
                <c:ptCount val="4"/>
                <c:pt idx="0">
                  <c:v>2.5</c:v>
                </c:pt>
                <c:pt idx="1">
                  <c:v>4</c:v>
                </c:pt>
                <c:pt idx="2">
                  <c:v>3.5</c:v>
                </c:pt>
                <c:pt idx="3">
                  <c:v>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B7DC-4BF8-8B6D-5E5E0502E95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3391919"/>
        <c:axId val="486034831"/>
      </c:scatterChart>
      <c:valAx>
        <c:axId val="483391919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86034831"/>
        <c:crosses val="autoZero"/>
        <c:crossBetween val="midCat"/>
      </c:valAx>
      <c:valAx>
        <c:axId val="48603483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83391919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69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>
          <a:alpha val="75000"/>
        </a:schemeClr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>
          <a:alpha val="75000"/>
        </a:schemeClr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>
            <a:alpha val="50000"/>
          </a:schemeClr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69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>
          <a:alpha val="75000"/>
        </a:schemeClr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>
          <a:alpha val="75000"/>
        </a:schemeClr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>
            <a:alpha val="50000"/>
          </a:schemeClr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69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>
          <a:alpha val="75000"/>
        </a:schemeClr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>
          <a:alpha val="75000"/>
        </a:schemeClr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>
            <a:alpha val="50000"/>
          </a:schemeClr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73CFCE-06D1-AE01-A194-573D7DC0F2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ECC4BC4-8161-6DE7-B967-07AEB47AA7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E859BC-FD2A-3ABF-02AE-D76EB00628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14DC4B-6458-479D-9144-1FEDB712AACC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32DCBA-3891-CAE6-7AC8-CE4A3E8AF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1D7C74-69D7-2857-F03E-B1E9903C92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0F9349-6CD5-4A62-B0BD-EE2AAB3C61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715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A1119E-0C6C-46B8-6929-9271BE8AB7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42B7-CA1D-C709-7B89-4CE87A740B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361087-F5B9-ECFC-F281-D5736FEACF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14DC4B-6458-479D-9144-1FEDB712AACC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31DDE2-84F1-E977-E9CC-E40B4E8B76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5AD488-62BE-1F67-66C6-C88D3CE39E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0F9349-6CD5-4A62-B0BD-EE2AAB3C61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3639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FAB1C1-96CF-2710-8A29-6B5C2D343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843D64-9A01-81A1-4F61-77D1C48903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E51660-1628-C17B-7184-477E70FC09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14DC4B-6458-479D-9144-1FEDB712AACC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9F457E-54DB-CB89-9CE1-D6FA5D82F9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FE34B7-B381-66AC-5860-DC7663857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0F9349-6CD5-4A62-B0BD-EE2AAB3C61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3165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FA543-AB9E-BF4F-2C02-EBD491F2C8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F60691-82D9-F4EE-FE6C-2DD14C440A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49D664-46E4-7A3F-DC01-333B5E93D5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3F6E99-37CF-F379-0DA9-D42AB682E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14DC4B-6458-479D-9144-1FEDB712AACC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15B9C6-9476-C436-2BB4-D02CD2FE6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432656-2E03-E65E-8857-DE5465FE4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0F9349-6CD5-4A62-B0BD-EE2AAB3C61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5851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3DF232-BEC2-9408-EDFB-F61A7A8D4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69AEA0-54E8-1B32-8733-FC0030F84D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E10058-C12A-95A3-AA97-6ACA0615CA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D0299B8-E660-930C-2129-E6DEF111CC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DBE3106-A344-B992-A4AD-E4BCC841ECA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84AFC8F-3FAA-119A-D020-5EFC5908C1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14DC4B-6458-479D-9144-1FEDB712AACC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137AB51-2A8C-8C34-7DC7-45C005F83E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0926FE-5AC5-DADB-D485-349AABE675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0F9349-6CD5-4A62-B0BD-EE2AAB3C61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1115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7E34A-8822-D565-3F44-3FF3D353CA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424438F-EC97-CBD9-5766-EBD961F8B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14DC4B-6458-479D-9144-1FEDB712AACC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55FC28-3D51-5031-A7F1-E0EAC49156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C23B64-6E6E-B714-87D4-59B2D9EAA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0F9349-6CD5-4A62-B0BD-EE2AAB3C61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4360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48966E9-F4BD-120F-1B9E-FA9920F4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14DC4B-6458-479D-9144-1FEDB712AACC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ADAF6D4-7B9C-9001-4B43-6D82D79888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51927E-5C75-C961-8A64-58D2D1B6D4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0F9349-6CD5-4A62-B0BD-EE2AAB3C61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45801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B992E6-B36B-2762-AEEA-0290181E0C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AF53E5-3D2D-6E66-5234-BCDAF25349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D37FD8-93DC-6561-A815-38CEE2C359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441308-68C3-FF49-9257-9226A35967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14DC4B-6458-479D-9144-1FEDB712AACC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F912D2-B1F9-17F9-7BE0-D36BA4235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82E244-4859-2556-0971-244A5E1489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0F9349-6CD5-4A62-B0BD-EE2AAB3C61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26552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41CEF-80C9-EB1A-6020-831C3873D7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A6C8C8F-4521-B1AE-A7E0-A3A2463470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1A732F-0510-971E-E50A-41DFE7D4D6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D999B9-BCAB-7E06-6EFF-BCD6C54FE7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14DC4B-6458-479D-9144-1FEDB712AACC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DDE1AB-A218-5A09-1D39-B6FD11F5FE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15E28B-A356-E4C8-41E8-3897EED13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0F9349-6CD5-4A62-B0BD-EE2AAB3C61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6710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6B9C8-DC2B-B526-5FAD-68938F8465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5D094E-C8B1-6375-8DEA-4A7CF4B88D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DA1D78-E51F-DBB4-6B68-010404AECA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14DC4B-6458-479D-9144-1FEDB712AACC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9BA718-0B26-5E45-0D87-92480D861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58158B-83F3-FCA2-CECC-5F55ABC74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0F9349-6CD5-4A62-B0BD-EE2AAB3C61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1955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6FAFDB-4F71-3035-01F5-6C9410A7445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FFE047B-7312-45BB-CF29-EF1951261A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547FBD-51B7-BC63-BC71-E5CFFCE3B6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14DC4B-6458-479D-9144-1FEDB712AACC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AD2484-E63B-599A-9085-C784294F2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FBE9C4-50E3-52F8-F727-991B088255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0F9349-6CD5-4A62-B0BD-EE2AAB3C61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35595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C245EFE-7138-6552-5BDE-1A581F336B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0D585C-E065-AD88-B3D9-6641223ECA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EC6B73-24AC-570B-4CBB-148F817B4B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14DC4B-6458-479D-9144-1FEDB712AACC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8928A4-B013-E359-AF76-F2C7158A7B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4A8934-3E30-617E-C2DD-165E83A300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0F9349-6CD5-4A62-B0BD-EE2AAB3C61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06018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scatter-chart">
            <a:extLst>
              <a:ext uri="{FF2B5EF4-FFF2-40B4-BE49-F238E27FC236}">
                <a16:creationId xmlns:a16="http://schemas.microsoft.com/office/drawing/2014/main" id="{BD2F7ECF-6259-F50F-59B5-7678BD03061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68560253"/>
              </p:ext>
            </p:extLst>
          </p:nvPr>
        </p:nvGraphicFramePr>
        <p:xfrm>
          <a:off x="762000" y="762000"/>
          <a:ext cx="10668000" cy="5334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5349859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bubble-chart">
            <a:extLst>
              <a:ext uri="{FF2B5EF4-FFF2-40B4-BE49-F238E27FC236}">
                <a16:creationId xmlns:a16="http://schemas.microsoft.com/office/drawing/2014/main" id="{23204B95-20A0-5CAA-83C8-6125C53F82D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30178917"/>
              </p:ext>
            </p:extLst>
          </p:nvPr>
        </p:nvGraphicFramePr>
        <p:xfrm>
          <a:off x="762000" y="762000"/>
          <a:ext cx="10668000" cy="5334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41486574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multilevel-bar-chart">
            <a:extLst>
              <a:ext uri="{FF2B5EF4-FFF2-40B4-BE49-F238E27FC236}">
                <a16:creationId xmlns:a16="http://schemas.microsoft.com/office/drawing/2014/main" id="{6AFC05F1-10BE-5600-AC87-395183C2A4E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2485497"/>
              </p:ext>
            </p:extLst>
          </p:nvPr>
        </p:nvGraphicFramePr>
        <p:xfrm>
          <a:off x="762000" y="762000"/>
          <a:ext cx="10668000" cy="5334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5621999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pie-chart">
            <a:extLst>
              <a:ext uri="{FF2B5EF4-FFF2-40B4-BE49-F238E27FC236}">
                <a16:creationId xmlns:a16="http://schemas.microsoft.com/office/drawing/2014/main" id="{C6B9228E-8326-6D72-68A1-9C6DF100024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27552853"/>
              </p:ext>
            </p:extLst>
          </p:nvPr>
        </p:nvGraphicFramePr>
        <p:xfrm>
          <a:off x="762000" y="762000"/>
          <a:ext cx="10668000" cy="5334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3378592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scatter-text-x-chart">
            <a:extLst>
              <a:ext uri="{FF2B5EF4-FFF2-40B4-BE49-F238E27FC236}">
                <a16:creationId xmlns:a16="http://schemas.microsoft.com/office/drawing/2014/main" id="{6C034F78-84D9-489D-1F2E-B160EA3DD63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66677338"/>
              </p:ext>
            </p:extLst>
          </p:nvPr>
        </p:nvGraphicFramePr>
        <p:xfrm>
          <a:off x="762000" y="762000"/>
          <a:ext cx="10668000" cy="5334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5632803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bubble-text-x-chart">
            <a:extLst>
              <a:ext uri="{FF2B5EF4-FFF2-40B4-BE49-F238E27FC236}">
                <a16:creationId xmlns:a16="http://schemas.microsoft.com/office/drawing/2014/main" id="{961C24E8-C14F-35A5-6322-89B4BF998C6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10139298"/>
              </p:ext>
            </p:extLst>
          </p:nvPr>
        </p:nvGraphicFramePr>
        <p:xfrm>
          <a:off x="762000" y="762000"/>
          <a:ext cx="10668000" cy="5334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1718750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bubble-no-x-chart">
            <a:extLst>
              <a:ext uri="{FF2B5EF4-FFF2-40B4-BE49-F238E27FC236}">
                <a16:creationId xmlns:a16="http://schemas.microsoft.com/office/drawing/2014/main" id="{F98BD7A6-1EBE-F244-A743-E4257A7EB0D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3881141"/>
              </p:ext>
            </p:extLst>
          </p:nvPr>
        </p:nvGraphicFramePr>
        <p:xfrm>
          <a:off x="762000" y="762000"/>
          <a:ext cx="10668000" cy="5334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7323087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scatter-no-x-chart">
            <a:extLst>
              <a:ext uri="{FF2B5EF4-FFF2-40B4-BE49-F238E27FC236}">
                <a16:creationId xmlns:a16="http://schemas.microsoft.com/office/drawing/2014/main" id="{A8DFE3FF-64D9-A655-6C01-D8312ECD9BF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5418021"/>
              </p:ext>
            </p:extLst>
          </p:nvPr>
        </p:nvGraphicFramePr>
        <p:xfrm>
          <a:off x="762000" y="762000"/>
          <a:ext cx="10668000" cy="5334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5566778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</Words>
  <Application>Microsoft Office PowerPoint</Application>
  <PresentationFormat>Custom</PresentationFormat>
  <Paragraphs>1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HERNÁNDEZ BERNAL Santiago</dc:creator>
  <cp:lastModifiedBy>HERNÁNDEZ BERNAL Santiago</cp:lastModifiedBy>
  <cp:revision>1</cp:revision>
  <dcterms:created xsi:type="dcterms:W3CDTF">2026-09-13T17:37:33Z</dcterms:created>
  <dcterms:modified xsi:type="dcterms:W3CDTF">2026-09-13T17:37:33Z</dcterms:modified>
</cp:coreProperties>
</file>